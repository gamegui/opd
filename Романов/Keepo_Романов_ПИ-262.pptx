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86360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Keepo  ·  Романов Даниил  ·  ПИ-262  ·  ОмГТУ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1000" y="8636000"/>
            <a:ext cx="127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1 / 5</a:t>
            </a:r>
          </a:p>
        </p:txBody>
      </p:sp>
      <p:sp>
        <p:nvSpPr>
          <p:cNvPr id="6" name="Oval 5"/>
          <p:cNvSpPr/>
          <p:nvPr/>
        </p:nvSpPr>
        <p:spPr>
          <a:xfrm>
            <a:off x="10922000" y="762000"/>
            <a:ext cx="4826000" cy="48260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62000" y="4191000"/>
            <a:ext cx="2286000" cy="2286000"/>
          </a:xfrm>
          <a:prstGeom prst="ellipse">
            <a:avLst/>
          </a:prstGeom>
          <a:solidFill>
            <a:srgbClr val="22D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11000" y="1651000"/>
            <a:ext cx="3048000" cy="3048000"/>
          </a:xfrm>
          <a:prstGeom prst="ellipse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65000" y="2222500"/>
            <a:ext cx="2540000" cy="20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0" b="1">
                <a:solidFill>
                  <a:srgbClr val="F3F4F8"/>
                </a:solidFill>
                <a:latin typeface="Segoe UI"/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889000"/>
            <a:ext cx="8890000" cy="139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F3F4F8"/>
                </a:solidFill>
                <a:latin typeface="Segoe UI"/>
              </a:rPr>
              <a:t>Keepo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349500"/>
            <a:ext cx="1016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22D3A5"/>
                </a:solidFill>
                <a:latin typeface="Segoe UI"/>
              </a:rPr>
              <a:t>keep + price — держит твою цену на Wildberries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984500"/>
            <a:ext cx="1016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9AA0B4"/>
                </a:solidFill>
                <a:latin typeface="Segoe UI"/>
              </a:rPr>
              <a:t>Сервис автоматической защиты цены от принудительных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9AA0B4"/>
                </a:solidFill>
                <a:latin typeface="Segoe UI"/>
              </a:rPr>
              <a:t>скидок маркетплейса для начинающих селлеров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4000500"/>
            <a:ext cx="8382000" cy="3683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191000"/>
            <a:ext cx="7874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3F4F8"/>
                </a:solidFill>
                <a:latin typeface="Segoe UI"/>
              </a:rPr>
              <a:t>Романов Даниил Александрович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99000"/>
            <a:ext cx="787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2D3A5"/>
                </a:solidFill>
                <a:latin typeface="Segoe UI"/>
              </a:rPr>
              <a:t>Студент 1 курса ОмГТУ, группа ПИ-262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80000"/>
            <a:ext cx="787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09.03.03 «Прикладная информатика»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7200"/>
            <a:ext cx="7620000" cy="215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•  Выпускник лицея №137 г. Омска, призёр Ломоносовского турнира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•  Изучаю Python (ранее пробовал C#)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•  Делал ботов для мессенджеров и плагины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•  Интересует автоматизация рутинных процессов —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    именно об этом мой проект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7937500"/>
            <a:ext cx="635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B4"/>
                </a:solidFill>
                <a:latin typeface="Segoe UI"/>
              </a:rPr>
              <a:t>Проектная деятельность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86360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Keepo  ·  Романов Даниил  ·  ПИ-262  ·  ОмГТУ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1000" y="8636000"/>
            <a:ext cx="127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A5"/>
                </a:solidFill>
                <a:latin typeface="Segoe UI"/>
              </a:rPr>
              <a:t>01 · 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63600"/>
            <a:ext cx="1473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3F4F8"/>
                </a:solidFill>
                <a:latin typeface="Segoe UI"/>
              </a:rPr>
              <a:t>Селлер теряет деньги, пока спит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51000"/>
            <a:ext cx="14732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8"/>
                </a:solidFill>
                <a:latin typeface="Segoe UI"/>
              </a:rPr>
              <a:t>Wildberries сам включает товары в акции и ставит скидки.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3F4F8"/>
                </a:solidFill>
                <a:latin typeface="Segoe UI"/>
              </a:rPr>
              <a:t>Если селлер не откатил цену вручную — товар продаётся в минус.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79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48000"/>
            <a:ext cx="4064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7C5CFF"/>
                </a:solidFill>
                <a:latin typeface="Segoe UI"/>
              </a:rPr>
              <a:t>~30 сек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00500"/>
            <a:ext cx="4064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B4"/>
                </a:solidFill>
                <a:latin typeface="Segoe UI"/>
              </a:rPr>
              <a:t>убрать скидку с товара —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B4"/>
                </a:solidFill>
                <a:latin typeface="Segoe UI"/>
              </a:rPr>
              <a:t>если ты её заметил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8500" y="279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9500" y="3048000"/>
            <a:ext cx="4064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22D3A5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9500" y="4000500"/>
            <a:ext cx="4064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B4"/>
                </a:solidFill>
                <a:latin typeface="Segoe UI"/>
              </a:rPr>
              <a:t>уведомлений от WB о том,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B4"/>
                </a:solidFill>
                <a:latin typeface="Segoe UI"/>
              </a:rPr>
              <a:t>что он поставил скидку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95000" y="279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76000" y="3048000"/>
            <a:ext cx="4064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5C7A"/>
                </a:solidFill>
                <a:latin typeface="Segoe UI"/>
              </a:rPr>
              <a:t>часы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0" y="4000500"/>
            <a:ext cx="4064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B4"/>
                </a:solidFill>
                <a:latin typeface="Segoe UI"/>
              </a:rPr>
              <a:t>между скидкой и моментом,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0B4"/>
                </a:solidFill>
                <a:latin typeface="Segoe UI"/>
              </a:rPr>
              <a:t>когда селлер её увидел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5715000"/>
            <a:ext cx="14732000" cy="2286000"/>
          </a:xfrm>
          <a:prstGeom prst="roundRect">
            <a:avLst>
              <a:gd name="adj" fmla="val 8000"/>
            </a:avLst>
          </a:prstGeom>
          <a:solidFill>
            <a:srgbClr val="2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969000"/>
            <a:ext cx="13970000" cy="40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5C7A"/>
                </a:solidFill>
                <a:latin typeface="Segoe UI"/>
              </a:rPr>
              <a:t>Почему это критично именно для новичков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451600"/>
            <a:ext cx="13970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3F4F8"/>
                </a:solidFill>
                <a:latin typeface="Segoe UI"/>
              </a:rPr>
              <a:t>•  Нет команды и менеджера — всё делает один человек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3F4F8"/>
                </a:solidFill>
                <a:latin typeface="Segoe UI"/>
              </a:rPr>
              <a:t>•  Маржа 15–25 %: скидка WB в 30 % = гарантированный убыток с каждой продажи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3F4F8"/>
                </a:solidFill>
                <a:latin typeface="Segoe UI"/>
              </a:rPr>
              <a:t>•  Пока селлер заметил скидку — заказы уже оформлены, отменить их нельзя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86360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Keepo  ·  Романов Даниил  ·  ПИ-262  ·  ОмГТУ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1000" y="8636000"/>
            <a:ext cx="127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A5"/>
                </a:solidFill>
                <a:latin typeface="Segoe UI"/>
              </a:rPr>
              <a:t>02 · РЕШЕНИЕ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63600"/>
            <a:ext cx="1473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3F4F8"/>
                </a:solidFill>
                <a:latin typeface="Segoe UI"/>
              </a:rPr>
              <a:t>Keepo — одна настройка вместо часов рутины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25600"/>
            <a:ext cx="14732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3F4F8"/>
                </a:solidFill>
                <a:latin typeface="Segoe UI"/>
              </a:rPr>
              <a:t>Простой веб-сервис: указываешь минимальную цену — Keepo следит за товарами 24/7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F3F4F8"/>
                </a:solidFill>
                <a:latin typeface="Segoe UI"/>
              </a:rPr>
              <a:t>и автоматически возвращает цену, как только WB опустил её ниже порога.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413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2200" y="2616200"/>
            <a:ext cx="609600" cy="6096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" y="261620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3F4F8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2692400"/>
            <a:ext cx="330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3F4F8"/>
                </a:solidFill>
                <a:latin typeface="Segoe UI"/>
              </a:rPr>
              <a:t>Подключение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3937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Вставляешь API-ключ из кабинета WB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по пошаговой инструкции с картинками.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2 минуты, без программиста.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400" y="4000500"/>
            <a:ext cx="38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D3A5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8500" y="2413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08700" y="2616200"/>
            <a:ext cx="609600" cy="6096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700" y="261620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3F4F8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1500" y="2692400"/>
            <a:ext cx="330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3F4F8"/>
                </a:solidFill>
                <a:latin typeface="Segoe UI"/>
              </a:rPr>
              <a:t>Настройка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9500" y="3429000"/>
            <a:ext cx="3937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Для каждого товара — одно поле: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«не продавать дешевле X ₽».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Можно задать сразу для всех.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5900" y="4000500"/>
            <a:ext cx="381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2D3A5"/>
                </a:solidFill>
                <a:latin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95000" y="2413000"/>
            <a:ext cx="4572000" cy="3302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25200" y="2616200"/>
            <a:ext cx="609600" cy="6096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25200" y="261620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3F4F8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938000" y="2692400"/>
            <a:ext cx="330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3F4F8"/>
                </a:solidFill>
                <a:latin typeface="Segoe UI"/>
              </a:rPr>
              <a:t>Защита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76000" y="3429000"/>
            <a:ext cx="3937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Keepo регулярно проверяет цены через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официальный API WB и откатывает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скидку. Уведомление — на почту.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000" y="6096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6324600"/>
            <a:ext cx="635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A5"/>
                </a:solidFill>
                <a:latin typeface="Segoe UI"/>
              </a:rPr>
              <a:t>Для кого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6756400"/>
            <a:ext cx="6477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3F4F8"/>
                </a:solidFill>
                <a:latin typeface="Segoe UI"/>
              </a:rPr>
              <a:t>Одиночные селлеры и новички на WB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3F4F8"/>
                </a:solidFill>
                <a:latin typeface="Segoe UI"/>
              </a:rPr>
              <a:t>с 10–300 товарами, без команды и бюджета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3F4F8"/>
                </a:solidFill>
                <a:latin typeface="Segoe UI"/>
              </a:rPr>
              <a:t>на дорогие аналитические сервисы.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82000" y="6096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63000" y="6324600"/>
            <a:ext cx="635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A5"/>
                </a:solidFill>
                <a:latin typeface="Segoe UI"/>
              </a:rPr>
              <a:t>Стек MVP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0" y="6756400"/>
            <a:ext cx="6477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3F4F8"/>
                </a:solidFill>
                <a:latin typeface="Segoe UI"/>
              </a:rPr>
              <a:t>Python + FastAPI · официальный WB API (цены и скидки)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3F4F8"/>
                </a:solidFill>
                <a:latin typeface="Segoe UI"/>
              </a:rPr>
              <a:t>PostgreSQL · планировщик задач · простой веб-интерфейс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3F4F8"/>
                </a:solidFill>
                <a:latin typeface="Segoe UI"/>
              </a:rPr>
              <a:t>Оплата через ЮKassa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86360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Keepo  ·  Романов Даниил  ·  ПИ-262  ·  ОмГТУ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1000" y="8636000"/>
            <a:ext cx="127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A5"/>
                </a:solidFill>
                <a:latin typeface="Segoe UI"/>
              </a:rPr>
              <a:t>03 · КОНКУРЕНЦИЯ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63600"/>
            <a:ext cx="1473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3F4F8"/>
                </a:solidFill>
                <a:latin typeface="Segoe UI"/>
              </a:rPr>
              <a:t>Конкуренты продают аналитику — мы время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46000" y="2222500"/>
            <a:ext cx="3048000" cy="4826000"/>
          </a:xfrm>
          <a:prstGeom prst="roundRect">
            <a:avLst>
              <a:gd name="adj" fmla="val 8000"/>
            </a:avLst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222500"/>
            <a:ext cx="2921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3000" y="2222500"/>
            <a:ext cx="2921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MPStats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0" y="2222500"/>
            <a:ext cx="2921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Moneyplace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2222500"/>
            <a:ext cx="2921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Priceva</a:t>
            </a:r>
          </a:p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(репрайсер)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46000" y="2222500"/>
            <a:ext cx="3048000" cy="635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Keepo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2000" y="2857500"/>
            <a:ext cx="14732000" cy="0"/>
          </a:xfrm>
          <a:prstGeom prst="line">
            <a:avLst/>
          </a:prstGeom>
          <a:ln w="9525">
            <a:solidFill>
              <a:srgbClr val="2C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89000" y="28575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Цена в месяц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3000" y="28575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от 6 000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4000" y="28575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от 3 500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28575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от 2 000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46000" y="2857500"/>
            <a:ext cx="3048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490 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2000" y="3695700"/>
            <a:ext cx="14732000" cy="0"/>
          </a:xfrm>
          <a:prstGeom prst="line">
            <a:avLst/>
          </a:prstGeom>
          <a:ln w="9525">
            <a:solidFill>
              <a:srgbClr val="2C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9000" y="36957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Порог входа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3000" y="36957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десятки отчётов,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обучение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36957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сложные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дашборды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5000" y="36957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настройка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правил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46000" y="3695700"/>
            <a:ext cx="3048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1 поле:</a:t>
            </a:r>
          </a:p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мин. цена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2000" y="4533900"/>
            <a:ext cx="14732000" cy="0"/>
          </a:xfrm>
          <a:prstGeom prst="line">
            <a:avLst/>
          </a:prstGeom>
          <a:ln w="9525">
            <a:solidFill>
              <a:srgbClr val="2C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9000" y="45339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Фокус на скидках WB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3000" y="45339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побочная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функция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4000" y="45339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побочная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функция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5000" y="45339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частично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46000" y="4533900"/>
            <a:ext cx="3048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единственная</a:t>
            </a:r>
          </a:p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задача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2000" y="5372100"/>
            <a:ext cx="14732000" cy="0"/>
          </a:xfrm>
          <a:prstGeom prst="line">
            <a:avLst/>
          </a:prstGeom>
          <a:ln w="9525">
            <a:solidFill>
              <a:srgbClr val="2C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89000" y="53721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Бесплатный тариф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3000" y="53721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нет, триал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1–3 дня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53721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нет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5000" y="53721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нет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46000" y="5372100"/>
            <a:ext cx="3048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10 товаров,</a:t>
            </a:r>
          </a:p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5 автооткатов</a:t>
            </a:r>
          </a:p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бесплатно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2000" y="6210300"/>
            <a:ext cx="14732000" cy="0"/>
          </a:xfrm>
          <a:prstGeom prst="line">
            <a:avLst/>
          </a:prstGeom>
          <a:ln w="9525">
            <a:solidFill>
              <a:srgbClr val="2C3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89000" y="62103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Целевая аудитория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3000" y="62103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средний и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крупный бизнес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4000" y="62103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средний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бизнес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5000" y="6210300"/>
            <a:ext cx="2921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магазины с</a:t>
            </a:r>
          </a:p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9AA0B4"/>
                </a:solidFill>
                <a:latin typeface="Segoe UI"/>
              </a:rPr>
              <a:t>своим сайтом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46000" y="6210300"/>
            <a:ext cx="30480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новички и</a:t>
            </a:r>
          </a:p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3F4F8"/>
                </a:solidFill>
                <a:latin typeface="Segoe UI"/>
              </a:rPr>
              <a:t>одиночки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2000" y="7556500"/>
            <a:ext cx="14732000" cy="825500"/>
          </a:xfrm>
          <a:prstGeom prst="roundRect">
            <a:avLst>
              <a:gd name="adj" fmla="val 8000"/>
            </a:avLst>
          </a:prstGeom>
          <a:solidFill>
            <a:srgbClr val="12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500" y="7670800"/>
            <a:ext cx="14224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A5"/>
                </a:solidFill>
                <a:latin typeface="Segoe UI"/>
              </a:rPr>
              <a:t>Почему Keepo лучше: в 5–10 раз дешевле, решает одну конкретную боль и запускается за 2 минуты 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9500" y="8001000"/>
            <a:ext cx="1422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конкуренты — «комбайны» для тех, кто уже вырос; Keepo — одна кнопка для того, кто начал вчера.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5000" y="86360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Keepo  ·  Романов Даниил  ·  ПИ-262  ·  ОмГТУ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1000" y="8636000"/>
            <a:ext cx="127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AA0B4"/>
                </a:solidFill>
                <a:latin typeface="Segoe UI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A5"/>
                </a:solidFill>
                <a:latin typeface="Segoe UI"/>
              </a:rPr>
              <a:t>04 · ЭКОНОМИКА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63600"/>
            <a:ext cx="1473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3F4F8"/>
                </a:solidFill>
                <a:latin typeface="Segoe UI"/>
              </a:rPr>
              <a:t>Бюджет, сроки и монетизация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1590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9500" y="234950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D3A5"/>
                </a:solidFill>
                <a:latin typeface="Segoe UI"/>
              </a:rPr>
              <a:t>Тарифы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500" y="2768600"/>
            <a:ext cx="1143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768600"/>
            <a:ext cx="279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5CFF"/>
                </a:solidFill>
                <a:latin typeface="Segoe UI"/>
              </a:rPr>
              <a:t>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500" y="3048000"/>
            <a:ext cx="406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4"/>
                </a:solidFill>
                <a:latin typeface="Segoe UI"/>
              </a:rPr>
              <a:t>до 10 товаров, 5 бесплатных автооткатов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500" y="3352800"/>
            <a:ext cx="1143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Старт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352800"/>
            <a:ext cx="279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5CFF"/>
                </a:solidFill>
                <a:latin typeface="Segoe UI"/>
              </a:rPr>
              <a:t>490 ₽/мес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" y="3632200"/>
            <a:ext cx="406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4"/>
                </a:solidFill>
                <a:latin typeface="Segoe UI"/>
              </a:rPr>
              <a:t>до 100 товаров, замены без лимита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" y="3937000"/>
            <a:ext cx="1143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Про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937000"/>
            <a:ext cx="2794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7C5CFF"/>
                </a:solidFill>
                <a:latin typeface="Segoe UI"/>
              </a:rPr>
              <a:t>990 ₽/мес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" y="4216400"/>
            <a:ext cx="4064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0B4"/>
                </a:solidFill>
                <a:latin typeface="Segoe UI"/>
              </a:rPr>
              <a:t>без лимитов, несколько кабинетов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" y="4597400"/>
            <a:ext cx="4191000" cy="698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22D3A5"/>
                </a:solidFill>
                <a:latin typeface="Segoe UI"/>
              </a:rPr>
              <a:t>Как работает Free: до 10 товаров, первые 5 скидок WB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22D3A5"/>
                </a:solidFill>
                <a:latin typeface="Segoe UI"/>
              </a:rPr>
              <a:t>Keepo откатывает бесплатно — видишь результат.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22D3A5"/>
                </a:solidFill>
                <a:latin typeface="Segoe UI"/>
              </a:rPr>
              <a:t>Дальше — только уведомления, откат по тарифу «Старт».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8500" y="21590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0" y="234950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D3A5"/>
                </a:solidFill>
                <a:latin typeface="Segoe UI"/>
              </a:rPr>
              <a:t>Бюджет запуска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2819400"/>
            <a:ext cx="3048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Разработка + обучение (сам)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2819400"/>
            <a:ext cx="127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0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3149600"/>
            <a:ext cx="3048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Домен + VPS, год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3149600"/>
            <a:ext cx="127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6 000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3479800"/>
            <a:ext cx="3048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Самозанятость + ЮKassa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3479800"/>
            <a:ext cx="127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3 000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3810000"/>
            <a:ext cx="3048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Дизайн-шаблон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3810000"/>
            <a:ext cx="127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3 000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4140200"/>
            <a:ext cx="3048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WB API (платный с 2026), год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4140200"/>
            <a:ext cx="127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3 000 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4470400"/>
            <a:ext cx="3048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Реклама в чатах селлеров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4470400"/>
            <a:ext cx="1270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3F4F8"/>
                </a:solidFill>
                <a:latin typeface="Segoe UI"/>
              </a:rPr>
              <a:t>25 000 ₽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96000" y="4953000"/>
            <a:ext cx="4064000" cy="0"/>
          </a:xfrm>
          <a:prstGeom prst="line">
            <a:avLst/>
          </a:prstGeom>
          <a:ln>
            <a:solidFill>
              <a:srgbClr val="9AA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096000" y="5003800"/>
            <a:ext cx="1905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3F4F8"/>
                </a:solidFill>
                <a:latin typeface="Segoe UI"/>
              </a:rPr>
              <a:t>Итого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5000" y="5003800"/>
            <a:ext cx="1905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7C5CFF"/>
                </a:solidFill>
                <a:latin typeface="Segoe UI"/>
              </a:rPr>
              <a:t>≈ 40 000 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95000" y="2159000"/>
            <a:ext cx="4699000" cy="3175000"/>
          </a:xfrm>
          <a:prstGeom prst="roundRect">
            <a:avLst>
              <a:gd name="adj" fmla="val 8000"/>
            </a:avLst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12500" y="234950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D3A5"/>
                </a:solidFill>
                <a:latin typeface="Segoe UI"/>
              </a:rPr>
              <a:t>Сроки: от 10 недель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12500" y="2819400"/>
            <a:ext cx="4191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5CFF"/>
                </a:solidFill>
                <a:latin typeface="Segoe UI"/>
              </a:rPr>
              <a:t>Этап 1 · 2–3 нед. · обучение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12500" y="3048000"/>
            <a:ext cx="419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B4"/>
                </a:solidFill>
                <a:latin typeface="Segoe UI"/>
              </a:rPr>
              <a:t>FastAPI, requests, SQLAlchemy, WB API docs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12500" y="3327400"/>
            <a:ext cx="4191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5CFF"/>
                </a:solidFill>
                <a:latin typeface="Segoe UI"/>
              </a:rPr>
              <a:t>Этап 2 · 1–2 нед.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12500" y="3556000"/>
            <a:ext cx="419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B4"/>
                </a:solidFill>
                <a:latin typeface="Segoe UI"/>
              </a:rPr>
              <a:t>интеграция с WB API (цены, скидки)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12500" y="3835400"/>
            <a:ext cx="4191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5CFF"/>
                </a:solidFill>
                <a:latin typeface="Segoe UI"/>
              </a:rPr>
              <a:t>Этап 3 · 2–3 нед.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12500" y="4064000"/>
            <a:ext cx="419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B4"/>
                </a:solidFill>
                <a:latin typeface="Segoe UI"/>
              </a:rPr>
              <a:t>сайт, регистрация, настройка цен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2500" y="4343400"/>
            <a:ext cx="4191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5CFF"/>
                </a:solidFill>
                <a:latin typeface="Segoe UI"/>
              </a:rPr>
              <a:t>Этап 4 · 2 нед.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12500" y="4572000"/>
            <a:ext cx="419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B4"/>
                </a:solidFill>
                <a:latin typeface="Segoe UI"/>
              </a:rPr>
              <a:t>автооткат скидок, уведомления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12500" y="4851400"/>
            <a:ext cx="4191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7C5CFF"/>
                </a:solidFill>
                <a:latin typeface="Segoe UI"/>
              </a:rPr>
              <a:t>Этап 5 · 2+ нед.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12500" y="5080000"/>
            <a:ext cx="4191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AA0B4"/>
                </a:solidFill>
                <a:latin typeface="Segoe UI"/>
              </a:rPr>
              <a:t>оплата, тест на 20 селлерах, правки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2000" y="5715000"/>
            <a:ext cx="14732000" cy="2286000"/>
          </a:xfrm>
          <a:prstGeom prst="roundRect">
            <a:avLst>
              <a:gd name="adj" fmla="val 8000"/>
            </a:avLst>
          </a:prstGeom>
          <a:solidFill>
            <a:srgbClr val="1B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943600"/>
            <a:ext cx="508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22D3A5"/>
                </a:solidFill>
                <a:latin typeface="Segoe UI"/>
              </a:rPr>
              <a:t>Окупаемость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" y="6477000"/>
            <a:ext cx="355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3F4F8"/>
                </a:solidFill>
                <a:latin typeface="Segoe UI"/>
              </a:rPr>
              <a:t>20–30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" y="7112000"/>
            <a:ext cx="3556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B4"/>
                </a:solidFill>
                <a:latin typeface="Segoe UI"/>
              </a:rPr>
              <a:t>платящих за первые 3 мес.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6000" y="6477000"/>
            <a:ext cx="355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3F4F8"/>
                </a:solidFill>
                <a:latin typeface="Segoe UI"/>
              </a:rPr>
              <a:t>50–70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6000" y="7112000"/>
            <a:ext cx="3556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B4"/>
                </a:solidFill>
                <a:latin typeface="Segoe UI"/>
              </a:rPr>
              <a:t>платящих к 6 месяцу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9000" y="6477000"/>
            <a:ext cx="355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3F4F8"/>
                </a:solidFill>
                <a:latin typeface="Segoe UI"/>
              </a:rPr>
              <a:t>≈ 30 000 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9000" y="7112000"/>
            <a:ext cx="3556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B4"/>
                </a:solidFill>
                <a:latin typeface="Segoe UI"/>
              </a:rPr>
              <a:t>выручка в месяц к 6 мес.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92000" y="6477000"/>
            <a:ext cx="3556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3F4F8"/>
                </a:solidFill>
                <a:latin typeface="Segoe UI"/>
              </a:rPr>
              <a:t>3–4 мес.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92000" y="7112000"/>
            <a:ext cx="3556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0B4"/>
                </a:solidFill>
                <a:latin typeface="Segoe UI"/>
              </a:rPr>
              <a:t>окупаемость запуска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7543800"/>
            <a:ext cx="1397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3F4F8"/>
                </a:solidFill>
                <a:latin typeface="Segoe UI"/>
              </a:rPr>
              <a:t>Расходы в месяц: сервер ~500 ₽ + WB API ~15 ₽/клиент + комиссия ЮKassa 3,5 %. Время: от 10 недель по 15–20 ч, ~40 ч — обучение.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