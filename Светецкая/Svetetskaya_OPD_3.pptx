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lef" panose="00000500000000000000" pitchFamily="2" charset="-79"/>
      <p:regular r:id="rId7"/>
      <p:bold r:id="rId8"/>
    </p:embeddedFont>
    <p:embeddedFont>
      <p:font typeface="Bahnschrift Light" panose="020B0502040204020203" pitchFamily="34" charset="0"/>
      <p:regular r:id="rId9"/>
    </p:embeddedFont>
    <p:embeddedFont>
      <p:font typeface="Inter" panose="020B0604020202020204" charset="0"/>
      <p:regular r:id="rId10"/>
      <p:bold r:id="rId11"/>
      <p:boldItalic r:id="rId12"/>
    </p:embeddedFont>
    <p:embeddedFont>
      <p:font typeface="Raleway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73DDA3-E2E8-40EA-9697-F92D75FAA48C}" v="281" dt="2026-09-21T13:52:12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DEBE35-5078-431A-8AD2-BEA8B174E23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65;p11"/>
          <p:cNvGrpSpPr/>
          <p:nvPr/>
        </p:nvGrpSpPr>
        <p:grpSpPr>
          <a:xfrm>
            <a:off x="0" y="-717120"/>
            <a:ext cx="1029600" cy="11003760"/>
            <a:chOff x="0" y="-717120"/>
            <a:chExt cx="1029600" cy="11003760"/>
          </a:xfrm>
        </p:grpSpPr>
        <p:sp>
          <p:nvSpPr>
            <p:cNvPr id="8" name="Google Shape;66;p11"/>
            <p:cNvSpPr/>
            <p:nvPr/>
          </p:nvSpPr>
          <p:spPr>
            <a:xfrm>
              <a:off x="0" y="0"/>
              <a:ext cx="1028160" cy="10286640"/>
            </a:xfrm>
            <a:custGeom>
              <a:avLst/>
              <a:gdLst>
                <a:gd name="textAreaLeft" fmla="*/ 0 w 1028160"/>
                <a:gd name="textAreaRight" fmla="*/ 1028520 w 102816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68318" h="683184">
                  <a:moveTo>
                    <a:pt x="0" y="0"/>
                  </a:moveTo>
                  <a:lnTo>
                    <a:pt x="68318" y="0"/>
                  </a:lnTo>
                  <a:lnTo>
                    <a:pt x="68318" y="683184"/>
                  </a:lnTo>
                  <a:lnTo>
                    <a:pt x="0" y="683184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Google Shape;67;p11"/>
            <p:cNvSpPr/>
            <p:nvPr/>
          </p:nvSpPr>
          <p:spPr>
            <a:xfrm>
              <a:off x="0" y="-717120"/>
              <a:ext cx="1029600" cy="1100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4200" tIns="50760" rIns="34200" bIns="5076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1029960" y="4433040"/>
            <a:ext cx="17257680" cy="585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1743120" y="963360"/>
            <a:ext cx="5293080" cy="46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2482640" y="963360"/>
            <a:ext cx="5011920" cy="279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6;p3"/>
          <p:cNvCxnSpPr/>
          <p:nvPr/>
        </p:nvCxnSpPr>
        <p:spPr>
          <a:xfrm>
            <a:off x="1028520" y="8794440"/>
            <a:ext cx="16230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14" name="Google Shape;17;p3"/>
          <p:cNvPicPr/>
          <p:nvPr/>
        </p:nvPicPr>
        <p:blipFill>
          <a:blip r:embed="rId2"/>
          <a:srcRect t="64942"/>
          <a:stretch/>
        </p:blipFill>
        <p:spPr>
          <a:xfrm>
            <a:off x="-66240" y="0"/>
            <a:ext cx="18456120" cy="421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028880" y="4802040"/>
            <a:ext cx="16230240" cy="313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indent="0" algn="l">
              <a:buNone/>
              <a:defRPr lang="ru-RU" sz="1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1028880" y="8990640"/>
            <a:ext cx="470592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indent="0" algn="l">
              <a:buNone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>
            <a:off x="11637000" y="8990640"/>
            <a:ext cx="470592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indent="0" algn="l">
              <a:buNone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2;p4"/>
          <p:cNvSpPr/>
          <p:nvPr/>
        </p:nvSpPr>
        <p:spPr>
          <a:xfrm rot="16200000">
            <a:off x="9764640" y="1686960"/>
            <a:ext cx="10438200" cy="6794280"/>
          </a:xfrm>
          <a:custGeom>
            <a:avLst/>
            <a:gdLst>
              <a:gd name="textAreaLeft" fmla="*/ 0 w 10438200"/>
              <a:gd name="textAreaRight" fmla="*/ 10438560 w 10438200"/>
              <a:gd name="textAreaTop" fmla="*/ 0 h 6794280"/>
              <a:gd name="textAreaBottom" fmla="*/ 6794640 h 6794280"/>
            </a:gdLst>
            <a:ahLst/>
            <a:cxnLst/>
            <a:rect l="textAreaLeft" t="textAreaTop" r="textAreaRight" b="textAreaBottom"/>
            <a:pathLst>
              <a:path w="10438441" h="6794476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09720" y="1084320"/>
            <a:ext cx="8229240" cy="283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09720" y="2880360"/>
            <a:ext cx="8972280" cy="575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17480" y="1170720"/>
            <a:ext cx="5132160" cy="794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7;p5"/>
          <p:cNvGrpSpPr/>
          <p:nvPr/>
        </p:nvGrpSpPr>
        <p:grpSpPr>
          <a:xfrm>
            <a:off x="0" y="-180720"/>
            <a:ext cx="6061680" cy="10467720"/>
            <a:chOff x="0" y="-180720"/>
            <a:chExt cx="6061680" cy="10467720"/>
          </a:xfrm>
        </p:grpSpPr>
        <p:sp>
          <p:nvSpPr>
            <p:cNvPr id="23" name="Google Shape;28;p5"/>
            <p:cNvSpPr/>
            <p:nvPr/>
          </p:nvSpPr>
          <p:spPr>
            <a:xfrm>
              <a:off x="0" y="0"/>
              <a:ext cx="6061680" cy="10286640"/>
            </a:xfrm>
            <a:custGeom>
              <a:avLst/>
              <a:gdLst>
                <a:gd name="textAreaLeft" fmla="*/ 0 w 6061680"/>
                <a:gd name="textAreaRight" fmla="*/ 6062040 w 606168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1596562" h="2709333">
                  <a:moveTo>
                    <a:pt x="0" y="0"/>
                  </a:moveTo>
                  <a:lnTo>
                    <a:pt x="1596562" y="0"/>
                  </a:lnTo>
                  <a:lnTo>
                    <a:pt x="1596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29;p5"/>
            <p:cNvSpPr/>
            <p:nvPr/>
          </p:nvSpPr>
          <p:spPr>
            <a:xfrm>
              <a:off x="0" y="-180720"/>
              <a:ext cx="6061680" cy="1046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Google Shape;30;p5"/>
          <p:cNvSpPr/>
          <p:nvPr/>
        </p:nvSpPr>
        <p:spPr>
          <a:xfrm rot="10800000">
            <a:off x="4680" y="7920"/>
            <a:ext cx="3026160" cy="5135760"/>
          </a:xfrm>
          <a:custGeom>
            <a:avLst/>
            <a:gdLst>
              <a:gd name="textAreaLeft" fmla="*/ 0 w 3026160"/>
              <a:gd name="textAreaRight" fmla="*/ 3026520 w 3026160"/>
              <a:gd name="textAreaTop" fmla="*/ 0 h 5135760"/>
              <a:gd name="textAreaBottom" fmla="*/ 5136120 h 5135760"/>
            </a:gdLst>
            <a:ahLst/>
            <a:cxnLst/>
            <a:rect l="textAreaLeft" t="textAreaTop" r="textAreaRight" b="textAreaBottom"/>
            <a:pathLst>
              <a:path w="3668563" h="6225467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 rotWithShape="0"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16200000"/>
          </a:gradFill>
          <a:ln w="12700" cap="sq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1;p5"/>
          <p:cNvSpPr/>
          <p:nvPr/>
        </p:nvSpPr>
        <p:spPr>
          <a:xfrm>
            <a:off x="3030840" y="5143680"/>
            <a:ext cx="3026160" cy="5135760"/>
          </a:xfrm>
          <a:custGeom>
            <a:avLst/>
            <a:gdLst>
              <a:gd name="textAreaLeft" fmla="*/ 0 w 3026160"/>
              <a:gd name="textAreaRight" fmla="*/ 3026520 w 3026160"/>
              <a:gd name="textAreaTop" fmla="*/ 0 h 5135760"/>
              <a:gd name="textAreaBottom" fmla="*/ 5136120 h 5135760"/>
            </a:gdLst>
            <a:ahLst/>
            <a:cxnLst/>
            <a:rect l="textAreaLeft" t="textAreaTop" r="textAreaRight" b="textAreaBottom"/>
            <a:pathLst>
              <a:path w="3668563" h="6225467">
                <a:moveTo>
                  <a:pt x="3668563" y="0"/>
                </a:moveTo>
                <a:lnTo>
                  <a:pt x="3668563" y="6225467"/>
                </a:lnTo>
                <a:cubicBezTo>
                  <a:pt x="1642474" y="6225467"/>
                  <a:pt x="0" y="4831847"/>
                  <a:pt x="0" y="3112734"/>
                </a:cubicBezTo>
                <a:cubicBezTo>
                  <a:pt x="0" y="1393620"/>
                  <a:pt x="1642474" y="0"/>
                  <a:pt x="3668563" y="0"/>
                </a:cubicBezTo>
                <a:close/>
              </a:path>
            </a:pathLst>
          </a:custGeom>
          <a:gradFill rotWithShape="0">
            <a:gsLst>
              <a:gs pos="0">
                <a:srgbClr val="C6DB63"/>
              </a:gs>
              <a:gs pos="50000">
                <a:srgbClr val="FBFFE7"/>
              </a:gs>
              <a:gs pos="100000">
                <a:srgbClr val="B7D0DD"/>
              </a:gs>
            </a:gsLst>
            <a:lin ang="5400000"/>
          </a:gradFill>
          <a:ln w="12700" cap="sq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470000" y="2608200"/>
            <a:ext cx="8229240" cy="283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470000" y="4029840"/>
            <a:ext cx="8972280" cy="40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056040" y="7560"/>
            <a:ext cx="2976120" cy="521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29520" y="5218920"/>
            <a:ext cx="2976120" cy="506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7;p6"/>
          <p:cNvPicPr/>
          <p:nvPr/>
        </p:nvPicPr>
        <p:blipFill>
          <a:blip r:embed="rId2"/>
          <a:srcRect b="12908"/>
          <a:stretch/>
        </p:blipFill>
        <p:spPr>
          <a:xfrm>
            <a:off x="-111240" y="-79200"/>
            <a:ext cx="18398880" cy="1047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28880" y="1218240"/>
            <a:ext cx="16230240" cy="313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indent="0" algn="l">
              <a:buNone/>
              <a:defRPr lang="ru-RU" sz="1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1028880" y="8990640"/>
            <a:ext cx="470592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indent="0" algn="l">
              <a:buNone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41;p7"/>
          <p:cNvPicPr/>
          <p:nvPr/>
        </p:nvPicPr>
        <p:blipFill>
          <a:blip r:embed="rId2"/>
          <a:srcRect b="68116"/>
          <a:stretch/>
        </p:blipFill>
        <p:spPr>
          <a:xfrm>
            <a:off x="0" y="6542640"/>
            <a:ext cx="18287640" cy="379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07400" y="596160"/>
            <a:ext cx="8229240" cy="283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07400" y="2232000"/>
            <a:ext cx="8049600" cy="40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9511920" y="2232000"/>
            <a:ext cx="8049600" cy="40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46;p8"/>
          <p:cNvPicPr/>
          <p:nvPr/>
        </p:nvPicPr>
        <p:blipFill>
          <a:blip r:embed="rId2"/>
          <a:srcRect t="78354"/>
          <a:stretch/>
        </p:blipFill>
        <p:spPr>
          <a:xfrm>
            <a:off x="0" y="0"/>
            <a:ext cx="18287640" cy="257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29200" y="969840"/>
            <a:ext cx="8229240" cy="283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130040" y="3325680"/>
            <a:ext cx="4190760" cy="316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7048440" y="3325680"/>
            <a:ext cx="4190760" cy="316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12966840" y="3325680"/>
            <a:ext cx="4190760" cy="3161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719280" y="6707160"/>
            <a:ext cx="5011920" cy="29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6637680" y="6707160"/>
            <a:ext cx="5011920" cy="29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12556080" y="6707160"/>
            <a:ext cx="5011920" cy="29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55;p9"/>
          <p:cNvPicPr/>
          <p:nvPr/>
        </p:nvPicPr>
        <p:blipFill>
          <a:blip r:embed="rId2"/>
          <a:srcRect l="25259" t="17576" b="17576"/>
          <a:stretch/>
        </p:blipFill>
        <p:spPr>
          <a:xfrm>
            <a:off x="0" y="0"/>
            <a:ext cx="9175320" cy="102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9320" y="3832560"/>
            <a:ext cx="5293080" cy="46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0982520" y="3778200"/>
            <a:ext cx="5011920" cy="290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59;p10"/>
          <p:cNvGrpSpPr/>
          <p:nvPr/>
        </p:nvGrpSpPr>
        <p:grpSpPr>
          <a:xfrm>
            <a:off x="360" y="9258480"/>
            <a:ext cx="19004760" cy="1029600"/>
            <a:chOff x="360" y="9258480"/>
            <a:chExt cx="19004760" cy="1029600"/>
          </a:xfrm>
        </p:grpSpPr>
        <p:sp>
          <p:nvSpPr>
            <p:cNvPr id="50" name="Google Shape;60;p10"/>
            <p:cNvSpPr/>
            <p:nvPr/>
          </p:nvSpPr>
          <p:spPr>
            <a:xfrm rot="5400000">
              <a:off x="8629920" y="628560"/>
              <a:ext cx="1028160" cy="18287640"/>
            </a:xfrm>
            <a:custGeom>
              <a:avLst/>
              <a:gdLst>
                <a:gd name="textAreaLeft" fmla="*/ 0 w 1028160"/>
                <a:gd name="textAreaRight" fmla="*/ 1028520 w 1028160"/>
                <a:gd name="textAreaTop" fmla="*/ 0 h 18287640"/>
                <a:gd name="textAreaBottom" fmla="*/ 18288000 h 18287640"/>
              </a:gdLst>
              <a:ahLst/>
              <a:cxnLst/>
              <a:rect l="textAreaLeft" t="textAreaTop" r="textAreaRight" b="textAreaBottom"/>
              <a:pathLst>
                <a:path w="68318" h="1214550">
                  <a:moveTo>
                    <a:pt x="0" y="0"/>
                  </a:moveTo>
                  <a:lnTo>
                    <a:pt x="68318" y="0"/>
                  </a:lnTo>
                  <a:lnTo>
                    <a:pt x="68318" y="1214550"/>
                  </a:lnTo>
                  <a:lnTo>
                    <a:pt x="0" y="121455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61;p10"/>
            <p:cNvSpPr/>
            <p:nvPr/>
          </p:nvSpPr>
          <p:spPr>
            <a:xfrm rot="5400000">
              <a:off x="8988480" y="271080"/>
              <a:ext cx="1029600" cy="1900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4200" tIns="50760" rIns="34200" bIns="50760" anchor="ctr">
              <a:noAutofit/>
            </a:bodyPr>
            <a:lstStyle/>
            <a:p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171440" y="953280"/>
            <a:ext cx="8229240" cy="283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>
              <a:buNone/>
              <a:def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171440" y="2910600"/>
            <a:ext cx="8972280" cy="40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556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75;p12"/>
          <p:cNvSpPr/>
          <p:nvPr/>
        </p:nvSpPr>
        <p:spPr>
          <a:xfrm>
            <a:off x="-88560" y="-8124120"/>
            <a:ext cx="18464760" cy="12018600"/>
          </a:xfrm>
          <a:custGeom>
            <a:avLst/>
            <a:gdLst>
              <a:gd name="textAreaLeft" fmla="*/ 0 w 18464760"/>
              <a:gd name="textAreaRight" fmla="*/ 18465120 w 18464760"/>
              <a:gd name="textAreaTop" fmla="*/ 0 h 12018600"/>
              <a:gd name="textAreaBottom" fmla="*/ 12018960 h 12018600"/>
            </a:gdLst>
            <a:ahLst/>
            <a:cxnLst/>
            <a:rect l="textAreaLeft" t="textAreaTop" r="textAreaRight" b="textAreaBottom"/>
            <a:pathLst>
              <a:path w="18465048" h="12019067">
                <a:moveTo>
                  <a:pt x="0" y="0"/>
                </a:moveTo>
                <a:lnTo>
                  <a:pt x="18465048" y="0"/>
                </a:lnTo>
                <a:lnTo>
                  <a:pt x="18465048" y="12019068"/>
                </a:lnTo>
                <a:lnTo>
                  <a:pt x="0" y="120190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" name="Google Shape;76;p12"/>
          <p:cNvCxnSpPr/>
          <p:nvPr/>
        </p:nvCxnSpPr>
        <p:spPr>
          <a:xfrm>
            <a:off x="1028520" y="8794440"/>
            <a:ext cx="162309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6" name="Google Shape;77;p12"/>
          <p:cNvSpPr/>
          <p:nvPr/>
        </p:nvSpPr>
        <p:spPr>
          <a:xfrm>
            <a:off x="1034631" y="4462706"/>
            <a:ext cx="17162640" cy="3693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8000" dirty="0">
                <a:solidFill>
                  <a:schemeClr val="dk1"/>
                </a:solidFill>
                <a:latin typeface="Raleway"/>
              </a:rPr>
              <a:t>Потеря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средств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владельцев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малого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бизнеса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из-за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неявок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клиентов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на</a:t>
            </a:r>
            <a:r>
              <a:rPr lang="en-US" sz="8000" dirty="0">
                <a:solidFill>
                  <a:schemeClr val="dk1"/>
                </a:solidFill>
                <a:latin typeface="Raleway"/>
              </a:rPr>
              <a:t> </a:t>
            </a:r>
            <a:r>
              <a:rPr lang="en-US" sz="8000" dirty="0" err="1">
                <a:solidFill>
                  <a:schemeClr val="dk1"/>
                </a:solidFill>
                <a:latin typeface="Raleway"/>
              </a:rPr>
              <a:t>запись</a:t>
            </a:r>
            <a:endParaRPr lang="ru-RU" sz="8000">
              <a:solidFill>
                <a:schemeClr val="dk1"/>
              </a:solidFill>
              <a:cs typeface="Arial"/>
            </a:endParaRPr>
          </a:p>
        </p:txBody>
      </p:sp>
      <p:sp>
        <p:nvSpPr>
          <p:cNvPr id="57" name="Google Shape;78;p12"/>
          <p:cNvSpPr/>
          <p:nvPr/>
        </p:nvSpPr>
        <p:spPr>
          <a:xfrm>
            <a:off x="1028880" y="9007920"/>
            <a:ext cx="17151115" cy="575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3000" dirty="0" err="1">
                <a:solidFill>
                  <a:srgbClr val="888888"/>
                </a:solidFill>
                <a:latin typeface="Inter"/>
                <a:ea typeface="Inter"/>
              </a:rPr>
              <a:t>Светецкая</a:t>
            </a:r>
            <a:r>
              <a:rPr lang="en-US" sz="3000" dirty="0">
                <a:solidFill>
                  <a:srgbClr val="888888"/>
                </a:solidFill>
                <a:latin typeface="Inter"/>
                <a:ea typeface="Inter"/>
              </a:rPr>
              <a:t> </a:t>
            </a:r>
            <a:r>
              <a:rPr lang="en-US" sz="3000" dirty="0" err="1">
                <a:solidFill>
                  <a:srgbClr val="888888"/>
                </a:solidFill>
                <a:latin typeface="Inter"/>
                <a:ea typeface="Inter"/>
              </a:rPr>
              <a:t>Татьяна</a:t>
            </a:r>
            <a:r>
              <a:rPr lang="en-US" sz="3000" dirty="0">
                <a:solidFill>
                  <a:srgbClr val="888888"/>
                </a:solidFill>
                <a:latin typeface="Inter"/>
                <a:ea typeface="Inter"/>
              </a:rPr>
              <a:t>                                                                                                             ПИ-262</a:t>
            </a:r>
            <a:endParaRPr lang="ru-RU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2;p12"/>
          <p:cNvSpPr/>
          <p:nvPr/>
        </p:nvSpPr>
        <p:spPr>
          <a:xfrm>
            <a:off x="1028880" y="4181040"/>
            <a:ext cx="12733200" cy="192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5200" b="0" u="none" strike="noStrike" dirty="0">
              <a:solidFill>
                <a:schemeClr val="dk1"/>
              </a:solidFill>
              <a:effectLst/>
              <a:uFillTx/>
              <a:latin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91;p13"/>
          <p:cNvSpPr/>
          <p:nvPr/>
        </p:nvSpPr>
        <p:spPr>
          <a:xfrm>
            <a:off x="849960" y="391320"/>
            <a:ext cx="10326960" cy="221472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2;p13"/>
          <p:cNvSpPr/>
          <p:nvPr/>
        </p:nvSpPr>
        <p:spPr>
          <a:xfrm rot="16200000">
            <a:off x="10289160" y="1746360"/>
            <a:ext cx="10438200" cy="6794280"/>
          </a:xfrm>
          <a:custGeom>
            <a:avLst/>
            <a:gdLst>
              <a:gd name="textAreaLeft" fmla="*/ 0 w 10438200"/>
              <a:gd name="textAreaRight" fmla="*/ 10438560 w 10438200"/>
              <a:gd name="textAreaTop" fmla="*/ 0 h 6794280"/>
              <a:gd name="textAreaBottom" fmla="*/ 6794640 h 6794280"/>
            </a:gdLst>
            <a:ahLst/>
            <a:cxnLst/>
            <a:rect l="textAreaLeft" t="textAreaTop" r="textAreaRight" b="textAreaBottom"/>
            <a:pathLst>
              <a:path w="10438441" h="6794476">
                <a:moveTo>
                  <a:pt x="0" y="0"/>
                </a:moveTo>
                <a:lnTo>
                  <a:pt x="10438441" y="0"/>
                </a:lnTo>
                <a:lnTo>
                  <a:pt x="10438441" y="6794477"/>
                </a:lnTo>
                <a:lnTo>
                  <a:pt x="0" y="67944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3;p13"/>
          <p:cNvSpPr/>
          <p:nvPr/>
        </p:nvSpPr>
        <p:spPr>
          <a:xfrm>
            <a:off x="1219006" y="4618825"/>
            <a:ext cx="9959400" cy="45060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 </a:t>
            </a:r>
            <a:r>
              <a:rPr lang="en-US" sz="46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 </a:t>
            </a:r>
            <a:r>
              <a:rPr lang="en-US" sz="54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барбершопы</a:t>
            </a:r>
            <a:r>
              <a:rPr lang="en-US" sz="54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54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бьюти-студии</a:t>
            </a:r>
            <a:r>
              <a:rPr lang="en-US" sz="54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 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54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репетиторы</a:t>
            </a:r>
            <a:r>
              <a:rPr lang="en-US" sz="54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 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54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фитнес-тренеры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54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и </a:t>
            </a:r>
            <a:r>
              <a:rPr lang="en-US" sz="54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т.п</a:t>
            </a:r>
            <a:r>
              <a:rPr lang="en-US" sz="54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.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69" name="Google Shape;94;p13"/>
          <p:cNvSpPr/>
          <p:nvPr/>
        </p:nvSpPr>
        <p:spPr>
          <a:xfrm>
            <a:off x="13174920" y="1546200"/>
            <a:ext cx="4666320" cy="696132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oogle Shape;95;p13"/>
          <p:cNvGrpSpPr/>
          <p:nvPr/>
        </p:nvGrpSpPr>
        <p:grpSpPr>
          <a:xfrm>
            <a:off x="993286" y="4891956"/>
            <a:ext cx="524160" cy="524160"/>
            <a:chOff x="687600" y="5343840"/>
            <a:chExt cx="524160" cy="524160"/>
          </a:xfrm>
        </p:grpSpPr>
        <p:sp>
          <p:nvSpPr>
            <p:cNvPr id="71" name="Google Shape;96;p13"/>
            <p:cNvSpPr/>
            <p:nvPr/>
          </p:nvSpPr>
          <p:spPr>
            <a:xfrm>
              <a:off x="687600" y="5343840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Google Shape;97;p13"/>
            <p:cNvSpPr/>
            <p:nvPr/>
          </p:nvSpPr>
          <p:spPr>
            <a:xfrm>
              <a:off x="810720" y="543600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Google Shape;98;p13"/>
          <p:cNvGrpSpPr/>
          <p:nvPr/>
        </p:nvGrpSpPr>
        <p:grpSpPr>
          <a:xfrm>
            <a:off x="993286" y="5779151"/>
            <a:ext cx="524160" cy="524160"/>
            <a:chOff x="687600" y="6138000"/>
            <a:chExt cx="524160" cy="524160"/>
          </a:xfrm>
        </p:grpSpPr>
        <p:sp>
          <p:nvSpPr>
            <p:cNvPr id="74" name="Google Shape;99;p13"/>
            <p:cNvSpPr/>
            <p:nvPr/>
          </p:nvSpPr>
          <p:spPr>
            <a:xfrm>
              <a:off x="687600" y="6138000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Google Shape;100;p13"/>
            <p:cNvSpPr/>
            <p:nvPr/>
          </p:nvSpPr>
          <p:spPr>
            <a:xfrm>
              <a:off x="810720" y="623016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oogle Shape;101;p13"/>
          <p:cNvGrpSpPr/>
          <p:nvPr/>
        </p:nvGrpSpPr>
        <p:grpSpPr>
          <a:xfrm>
            <a:off x="993286" y="6613183"/>
            <a:ext cx="524160" cy="524160"/>
            <a:chOff x="687600" y="6932160"/>
            <a:chExt cx="524160" cy="524160"/>
          </a:xfrm>
        </p:grpSpPr>
        <p:sp>
          <p:nvSpPr>
            <p:cNvPr id="77" name="Google Shape;102;p13"/>
            <p:cNvSpPr/>
            <p:nvPr/>
          </p:nvSpPr>
          <p:spPr>
            <a:xfrm>
              <a:off x="687600" y="6932160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Google Shape;103;p13"/>
            <p:cNvSpPr/>
            <p:nvPr/>
          </p:nvSpPr>
          <p:spPr>
            <a:xfrm>
              <a:off x="810720" y="702432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9" name="Google Shape;104;p13"/>
          <p:cNvGrpSpPr/>
          <p:nvPr/>
        </p:nvGrpSpPr>
        <p:grpSpPr>
          <a:xfrm>
            <a:off x="993286" y="7366596"/>
            <a:ext cx="524160" cy="697454"/>
            <a:chOff x="687600" y="7818480"/>
            <a:chExt cx="524160" cy="697454"/>
          </a:xfrm>
        </p:grpSpPr>
        <p:sp>
          <p:nvSpPr>
            <p:cNvPr id="80" name="Google Shape;105;p13"/>
            <p:cNvSpPr/>
            <p:nvPr/>
          </p:nvSpPr>
          <p:spPr>
            <a:xfrm>
              <a:off x="687600" y="7991774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106;p13"/>
            <p:cNvSpPr/>
            <p:nvPr/>
          </p:nvSpPr>
          <p:spPr>
            <a:xfrm>
              <a:off x="810720" y="781848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oogle Shape;107;p13"/>
          <p:cNvGrpSpPr/>
          <p:nvPr/>
        </p:nvGrpSpPr>
        <p:grpSpPr>
          <a:xfrm>
            <a:off x="289800" y="391320"/>
            <a:ext cx="11447280" cy="2082240"/>
            <a:chOff x="289800" y="391320"/>
            <a:chExt cx="11447280" cy="2082240"/>
          </a:xfrm>
        </p:grpSpPr>
        <p:sp>
          <p:nvSpPr>
            <p:cNvPr id="83" name="Google Shape;108;p13"/>
            <p:cNvSpPr/>
            <p:nvPr/>
          </p:nvSpPr>
          <p:spPr>
            <a:xfrm>
              <a:off x="289800" y="492120"/>
              <a:ext cx="11447280" cy="1981440"/>
            </a:xfrm>
            <a:custGeom>
              <a:avLst/>
              <a:gdLst>
                <a:gd name="textAreaLeft" fmla="*/ 0 w 11447280"/>
                <a:gd name="textAreaRight" fmla="*/ 11447640 w 11447280"/>
                <a:gd name="textAreaTop" fmla="*/ 0 h 1981440"/>
                <a:gd name="textAreaBottom" fmla="*/ 1981800 h 1981440"/>
              </a:gdLst>
              <a:ahLst/>
              <a:cxnLst/>
              <a:rect l="textAreaLeft" t="textAreaTop" r="textAreaRight" b="textAreaBottom"/>
              <a:pathLst>
                <a:path w="881508" h="169068">
                  <a:moveTo>
                    <a:pt x="49434" y="0"/>
                  </a:moveTo>
                  <a:lnTo>
                    <a:pt x="832074" y="0"/>
                  </a:lnTo>
                  <a:cubicBezTo>
                    <a:pt x="859376" y="0"/>
                    <a:pt x="881508" y="22132"/>
                    <a:pt x="881508" y="49434"/>
                  </a:cubicBezTo>
                  <a:lnTo>
                    <a:pt x="881508" y="119634"/>
                  </a:lnTo>
                  <a:cubicBezTo>
                    <a:pt x="881508" y="146936"/>
                    <a:pt x="859376" y="169068"/>
                    <a:pt x="832074" y="169068"/>
                  </a:cubicBezTo>
                  <a:lnTo>
                    <a:pt x="49434" y="169068"/>
                  </a:lnTo>
                  <a:cubicBezTo>
                    <a:pt x="22132" y="169068"/>
                    <a:pt x="0" y="146936"/>
                    <a:pt x="0" y="119634"/>
                  </a:cubicBezTo>
                  <a:lnTo>
                    <a:pt x="0" y="49434"/>
                  </a:lnTo>
                  <a:cubicBezTo>
                    <a:pt x="0" y="22132"/>
                    <a:pt x="22132" y="0"/>
                    <a:pt x="4943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B7D0DD"/>
                </a:gs>
                <a:gs pos="100000">
                  <a:srgbClr val="FBFFE7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30320" tIns="130320" rIns="130320" bIns="130320" anchor="ctr">
              <a:noAutofit/>
            </a:bodyPr>
            <a:lstStyle/>
            <a:p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Google Shape;109;p13"/>
            <p:cNvSpPr/>
            <p:nvPr/>
          </p:nvSpPr>
          <p:spPr>
            <a:xfrm>
              <a:off x="289800" y="391320"/>
              <a:ext cx="11445840" cy="19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72360" tIns="72360" rIns="72360" bIns="7236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Google Shape;110;p13"/>
          <p:cNvSpPr/>
          <p:nvPr/>
        </p:nvSpPr>
        <p:spPr>
          <a:xfrm>
            <a:off x="479520" y="695280"/>
            <a:ext cx="11254680" cy="16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Raleway"/>
            </a:endParaRPr>
          </a:p>
        </p:txBody>
      </p:sp>
      <p:sp>
        <p:nvSpPr>
          <p:cNvPr id="86" name="Google Shape;111;p13"/>
          <p:cNvSpPr/>
          <p:nvPr/>
        </p:nvSpPr>
        <p:spPr>
          <a:xfrm>
            <a:off x="953414" y="2814609"/>
            <a:ext cx="9622440" cy="148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8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владельцы</a:t>
            </a:r>
            <a:r>
              <a:rPr lang="en-US" sz="48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48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небольших</a:t>
            </a:r>
            <a:r>
              <a:rPr lang="en-US" sz="48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48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сервисов</a:t>
            </a:r>
            <a:r>
              <a:rPr lang="en-US" sz="48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с </a:t>
            </a:r>
            <a:r>
              <a:rPr lang="en-US" sz="48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записью</a:t>
            </a:r>
            <a:r>
              <a:rPr lang="en-US" sz="48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:</a:t>
            </a:r>
            <a:endParaRPr lang="ru-RU" sz="4800" b="0" u="none" strike="noStrike">
              <a:solidFill>
                <a:schemeClr val="lt1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9A382-EFE2-B337-AACF-CCED4FB52B4A}"/>
              </a:ext>
            </a:extLst>
          </p:cNvPr>
          <p:cNvSpPr txBox="1"/>
          <p:nvPr/>
        </p:nvSpPr>
        <p:spPr>
          <a:xfrm>
            <a:off x="723274" y="991254"/>
            <a:ext cx="1032474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6600" b="1" dirty="0">
                <a:solidFill>
                  <a:schemeClr val="bg1"/>
                </a:solidFill>
                <a:latin typeface="Raleway"/>
                <a:cs typeface="Arial"/>
              </a:rPr>
              <a:t>Целевая аудитория -</a:t>
            </a:r>
            <a:endParaRPr lang="ru-RU" sz="6600" b="1" dirty="0">
              <a:solidFill>
                <a:schemeClr val="bg1"/>
              </a:solidFill>
              <a:latin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116;p14"/>
          <p:cNvSpPr/>
          <p:nvPr/>
        </p:nvSpPr>
        <p:spPr>
          <a:xfrm>
            <a:off x="6055920" y="292320"/>
            <a:ext cx="11774520" cy="21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5800" b="0" u="none" strike="noStrike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Сервис умных напоминани</a:t>
            </a:r>
            <a:r>
              <a:rPr lang="en-US" sz="5800" b="0" u="none" strike="noStrike">
                <a:solidFill>
                  <a:srgbClr val="FFFFFF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5800" b="0" u="none" strike="noStrike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и автозаполнения записи</a:t>
            </a:r>
            <a:endParaRPr lang="ru-RU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7;p14"/>
          <p:cNvSpPr/>
          <p:nvPr/>
        </p:nvSpPr>
        <p:spPr>
          <a:xfrm>
            <a:off x="6356520" y="2649240"/>
            <a:ext cx="11614320" cy="71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Л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Alef"/>
                <a:ea typeface="Raleway"/>
              </a:rPr>
              <a:t>ё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гкое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веб-приложение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 telegram-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бот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для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бизнеса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 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включающие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в </a:t>
            </a:r>
            <a:r>
              <a:rPr lang="en-US" sz="3300" b="1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себя</a:t>
            </a:r>
            <a:r>
              <a:rPr lang="en-US" sz="3300" b="1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:</a:t>
            </a:r>
            <a:endParaRPr lang="ru-RU" sz="3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40000"/>
              </a:lnSpc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Автонапоминания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за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24 ч. и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за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2 ч.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до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визита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шл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Bahnschrift Light"/>
                <a:ea typeface="Raleway"/>
              </a:rPr>
              <a:t>ё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т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клиенту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сообщение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(SMS/Telegram/MAX) с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кнопками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«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Подтвердить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» / «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Отменить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» / «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Перенести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»</a:t>
            </a:r>
            <a:endParaRPr lang="ru-RU" sz="3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40000"/>
              </a:lnSpc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Умны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лист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ожидания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-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если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клиент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отменил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,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система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автоматически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предлагает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освободивши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ся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слот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следующему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в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очереди</a:t>
            </a:r>
            <a:endParaRPr lang="ru-RU" sz="3000" b="0" u="none" strike="noStrike" dirty="0" err="1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40000"/>
              </a:lnSpc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Возможность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подключения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к Google Calendar/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существующе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таблице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внутри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приложения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для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Raleway"/>
                <a:ea typeface="Raleway"/>
              </a:rPr>
              <a:t>корректировки</a:t>
            </a:r>
            <a:r>
              <a:rPr lang="en-US" sz="3000" b="0" u="none" strike="noStrike" dirty="0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записе</a:t>
            </a:r>
            <a:r>
              <a:rPr lang="en-US" sz="3000" b="0" u="none" strike="noStrike" dirty="0" err="1">
                <a:solidFill>
                  <a:srgbClr val="FFFFFF"/>
                </a:solidFill>
                <a:effectLst/>
                <a:uFillTx/>
                <a:latin typeface="Bahnschrift Light"/>
                <a:ea typeface="Raleway"/>
              </a:rPr>
              <a:t>й</a:t>
            </a:r>
            <a:endParaRPr lang="ru-RU" sz="3000" b="0" u="none" strike="noStrike" dirty="0" err="1">
              <a:solidFill>
                <a:srgbClr val="FFFFFF"/>
              </a:solidFill>
              <a:effectLst/>
              <a:uFillTx/>
              <a:latin typeface="Bahnschrift Light"/>
            </a:endParaRPr>
          </a:p>
        </p:txBody>
      </p:sp>
      <p:pic>
        <p:nvPicPr>
          <p:cNvPr id="89" name="Google Shape;118;p14"/>
          <p:cNvPicPr/>
          <p:nvPr/>
        </p:nvPicPr>
        <p:blipFill>
          <a:blip r:embed="rId2"/>
          <a:srcRect l="15828"/>
          <a:stretch/>
        </p:blipFill>
        <p:spPr>
          <a:xfrm>
            <a:off x="0" y="0"/>
            <a:ext cx="5714640" cy="104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Google Shape;119;p14"/>
          <p:cNvSpPr/>
          <p:nvPr/>
        </p:nvSpPr>
        <p:spPr>
          <a:xfrm flipH="1">
            <a:off x="1814760" y="5089320"/>
            <a:ext cx="3899160" cy="5197320"/>
          </a:xfrm>
          <a:prstGeom prst="flowChartDelay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0;p14" title="e3ee021481aa0f6ec866a14b9ecfc11c.jpg"/>
          <p:cNvSpPr/>
          <p:nvPr/>
        </p:nvSpPr>
        <p:spPr>
          <a:xfrm>
            <a:off x="0" y="0"/>
            <a:ext cx="3899160" cy="5197320"/>
          </a:xfrm>
          <a:prstGeom prst="flowChartDelay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oogle Shape;121;p14"/>
          <p:cNvGrpSpPr/>
          <p:nvPr/>
        </p:nvGrpSpPr>
        <p:grpSpPr>
          <a:xfrm>
            <a:off x="6135840" y="4196880"/>
            <a:ext cx="524160" cy="524160"/>
            <a:chOff x="6135840" y="4196880"/>
            <a:chExt cx="524160" cy="524160"/>
          </a:xfrm>
        </p:grpSpPr>
        <p:sp>
          <p:nvSpPr>
            <p:cNvPr id="93" name="Google Shape;122;p14"/>
            <p:cNvSpPr/>
            <p:nvPr/>
          </p:nvSpPr>
          <p:spPr>
            <a:xfrm>
              <a:off x="6135840" y="4196880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123;p14"/>
            <p:cNvSpPr/>
            <p:nvPr/>
          </p:nvSpPr>
          <p:spPr>
            <a:xfrm>
              <a:off x="6135840" y="441216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oogle Shape;124;p14"/>
          <p:cNvGrpSpPr/>
          <p:nvPr/>
        </p:nvGrpSpPr>
        <p:grpSpPr>
          <a:xfrm>
            <a:off x="6135840" y="6120000"/>
            <a:ext cx="524160" cy="524160"/>
            <a:chOff x="6135840" y="6120000"/>
            <a:chExt cx="524160" cy="524160"/>
          </a:xfrm>
        </p:grpSpPr>
        <p:sp>
          <p:nvSpPr>
            <p:cNvPr id="96" name="Google Shape;125;p14"/>
            <p:cNvSpPr/>
            <p:nvPr/>
          </p:nvSpPr>
          <p:spPr>
            <a:xfrm>
              <a:off x="6135840" y="6120000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126;p14"/>
            <p:cNvSpPr/>
            <p:nvPr/>
          </p:nvSpPr>
          <p:spPr>
            <a:xfrm>
              <a:off x="6258600" y="621252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" name="Google Shape;127;p14"/>
          <p:cNvGrpSpPr/>
          <p:nvPr/>
        </p:nvGrpSpPr>
        <p:grpSpPr>
          <a:xfrm>
            <a:off x="6135840" y="8069040"/>
            <a:ext cx="524160" cy="524160"/>
            <a:chOff x="6135840" y="8069040"/>
            <a:chExt cx="524160" cy="524160"/>
          </a:xfrm>
        </p:grpSpPr>
        <p:sp>
          <p:nvSpPr>
            <p:cNvPr id="99" name="Google Shape;128;p14"/>
            <p:cNvSpPr/>
            <p:nvPr/>
          </p:nvSpPr>
          <p:spPr>
            <a:xfrm>
              <a:off x="6135840" y="8069040"/>
              <a:ext cx="524160" cy="524160"/>
            </a:xfrm>
            <a:custGeom>
              <a:avLst/>
              <a:gdLst>
                <a:gd name="textAreaLeft" fmla="*/ 0 w 524160"/>
                <a:gd name="textAreaRight" fmla="*/ 524520 w 524160"/>
                <a:gd name="textAreaTop" fmla="*/ 0 h 524160"/>
                <a:gd name="textAreaBottom" fmla="*/ 524520 h 5241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gradFill rotWithShape="0">
              <a:gsLst>
                <a:gs pos="0">
                  <a:srgbClr val="C6DB63"/>
                </a:gs>
                <a:gs pos="50000">
                  <a:srgbClr val="FBFFE7"/>
                </a:gs>
                <a:gs pos="100000">
                  <a:srgbClr val="B7D0DD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129;p14"/>
            <p:cNvSpPr/>
            <p:nvPr/>
          </p:nvSpPr>
          <p:spPr>
            <a:xfrm>
              <a:off x="6258600" y="8161200"/>
              <a:ext cx="278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2680" tIns="22680" rIns="22680" bIns="22680" anchor="ctr">
              <a:noAutofit/>
            </a:bodyPr>
            <a:lstStyle/>
            <a:p>
              <a:endPara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34;p15"/>
          <p:cNvSpPr/>
          <p:nvPr/>
        </p:nvSpPr>
        <p:spPr>
          <a:xfrm>
            <a:off x="447120" y="161280"/>
            <a:ext cx="12269880" cy="12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8100" b="0" u="none" strike="noStrike">
                <a:solidFill>
                  <a:srgbClr val="FFFFFF"/>
                </a:solidFill>
                <a:effectLst/>
                <a:uFillTx/>
                <a:latin typeface="Raleway"/>
                <a:ea typeface="Raleway"/>
              </a:rPr>
              <a:t>Монетизация проекта:</a:t>
            </a:r>
            <a:endParaRPr lang="ru-RU" sz="8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35;p15"/>
          <p:cNvPicPr/>
          <p:nvPr/>
        </p:nvPicPr>
        <p:blipFill>
          <a:blip r:embed="rId2"/>
          <a:srcRect b="75052"/>
          <a:stretch/>
        </p:blipFill>
        <p:spPr>
          <a:xfrm>
            <a:off x="0" y="4269600"/>
            <a:ext cx="18287640" cy="601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36;p15"/>
          <p:cNvSpPr/>
          <p:nvPr/>
        </p:nvSpPr>
        <p:spPr>
          <a:xfrm>
            <a:off x="487440" y="1871640"/>
            <a:ext cx="13713480" cy="177228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7;p15"/>
          <p:cNvSpPr/>
          <p:nvPr/>
        </p:nvSpPr>
        <p:spPr>
          <a:xfrm>
            <a:off x="447120" y="4269600"/>
            <a:ext cx="14618160" cy="19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Конкурентоспособность:</a:t>
            </a:r>
            <a:endParaRPr lang="ru-RU" sz="8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8;p15"/>
          <p:cNvSpPr/>
          <p:nvPr/>
        </p:nvSpPr>
        <p:spPr>
          <a:xfrm>
            <a:off x="280080" y="1917360"/>
            <a:ext cx="14157720" cy="165492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9;p15"/>
          <p:cNvSpPr/>
          <p:nvPr/>
        </p:nvSpPr>
        <p:spPr>
          <a:xfrm>
            <a:off x="578520" y="2073600"/>
            <a:ext cx="11708280" cy="114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Подписка на сервис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~100-500 р/мес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 за использование, в зависимости от числа записе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Bahnschrift Light"/>
                <a:ea typeface="Raleway"/>
              </a:rPr>
              <a:t>й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0;p15"/>
          <p:cNvSpPr/>
          <p:nvPr/>
        </p:nvSpPr>
        <p:spPr>
          <a:xfrm>
            <a:off x="578520" y="5730120"/>
            <a:ext cx="15400440" cy="4195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1;p15"/>
          <p:cNvSpPr/>
          <p:nvPr/>
        </p:nvSpPr>
        <p:spPr>
          <a:xfrm>
            <a:off x="126360" y="5823000"/>
            <a:ext cx="16326720" cy="40100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2;p15"/>
          <p:cNvSpPr/>
          <p:nvPr/>
        </p:nvSpPr>
        <p:spPr>
          <a:xfrm>
            <a:off x="360000" y="5940000"/>
            <a:ext cx="15327000" cy="412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Малая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разработка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будет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выигрывать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у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больших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проектов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(YCLIENTS, DIKIDI)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за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сч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Bahnschrift Light"/>
                <a:ea typeface="Raleway"/>
              </a:rPr>
              <a:t>ё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т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свое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простоты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. В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отличие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от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конкурентов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“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комба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нов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”,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которые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включают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в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себя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запись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+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склад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+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зарплату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+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аналитику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,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мо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Bahnschrift Light"/>
                <a:ea typeface="Raleway"/>
              </a:rPr>
              <a:t>й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продукт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spc="-6" dirty="0" err="1">
                <a:solidFill>
                  <a:schemeClr val="lt1"/>
                </a:solidFill>
                <a:latin typeface="Raleway"/>
                <a:ea typeface="Raleway"/>
              </a:rPr>
              <a:t>более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spc="-6" dirty="0" err="1">
                <a:solidFill>
                  <a:schemeClr val="lt1"/>
                </a:solidFill>
                <a:latin typeface="Raleway"/>
                <a:ea typeface="Raleway"/>
              </a:rPr>
              <a:t>компактны</a:t>
            </a:r>
            <a:r>
              <a:rPr lang="en-US" sz="3600" spc="-6" dirty="0" err="1">
                <a:solidFill>
                  <a:schemeClr val="lt1"/>
                </a:solidFill>
                <a:latin typeface="Bahnschrift Light"/>
                <a:ea typeface="Raleway"/>
              </a:rPr>
              <a:t>й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spc="-6" dirty="0">
                <a:solidFill>
                  <a:schemeClr val="lt1"/>
                </a:solidFill>
                <a:latin typeface="Raleway"/>
                <a:ea typeface="Raleway"/>
              </a:rPr>
              <a:t>- </a:t>
            </a:r>
            <a:r>
              <a:rPr lang="en-US" sz="3600" spc="-6" dirty="0" err="1">
                <a:solidFill>
                  <a:schemeClr val="lt1"/>
                </a:solidFill>
                <a:latin typeface="Raleway"/>
                <a:ea typeface="Raleway"/>
              </a:rPr>
              <a:t>достаточно</a:t>
            </a:r>
            <a:r>
              <a:rPr lang="en-US" sz="3600" spc="-6" dirty="0">
                <a:solidFill>
                  <a:schemeClr val="lt1"/>
                </a:solidFill>
                <a:latin typeface="Raleway"/>
                <a:ea typeface="Raleway"/>
              </a:rPr>
              <a:t> </a:t>
            </a:r>
            <a:r>
              <a:rPr lang="en-US" sz="3600" spc="-6" dirty="0" err="1">
                <a:solidFill>
                  <a:schemeClr val="lt1"/>
                </a:solidFill>
                <a:latin typeface="Raleway"/>
                <a:ea typeface="Raleway"/>
              </a:rPr>
              <a:t>подключить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Google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Таблицу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или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календарь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, и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напоминания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уже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spc="-6" dirty="0" err="1">
                <a:solidFill>
                  <a:schemeClr val="lt1"/>
                </a:solidFill>
                <a:latin typeface="Raleway"/>
                <a:ea typeface="Raleway"/>
              </a:rPr>
              <a:t>будут</a:t>
            </a:r>
            <a:r>
              <a:rPr lang="en-US" sz="3600" spc="-6" dirty="0">
                <a:solidFill>
                  <a:schemeClr val="lt1"/>
                </a:solidFill>
                <a:latin typeface="Raleway"/>
                <a:ea typeface="Raleway"/>
              </a:rPr>
              <a:t> </a:t>
            </a:r>
            <a:r>
              <a:rPr lang="en-US" sz="3600" spc="-6" dirty="0" err="1">
                <a:solidFill>
                  <a:schemeClr val="lt1"/>
                </a:solidFill>
                <a:latin typeface="Raleway"/>
                <a:ea typeface="Raleway"/>
              </a:rPr>
              <a:t>работать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без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необходимости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мигрировать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всю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базу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600" b="0" u="none" strike="noStrike" spc="-6" dirty="0" err="1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клиентов</a:t>
            </a:r>
            <a:r>
              <a:rPr lang="en-US" sz="3600" b="0" u="none" strike="noStrike" spc="-6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.</a:t>
            </a:r>
            <a:r>
              <a:rPr lang="en-US" sz="3600" b="0" u="none" strike="noStrike" dirty="0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 </a:t>
            </a:r>
            <a:endParaRPr lang="ru-RU" sz="3600" b="0" u="none" strike="noStrike" dirty="0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47;p16"/>
          <p:cNvSpPr/>
          <p:nvPr/>
        </p:nvSpPr>
        <p:spPr>
          <a:xfrm rot="5400000">
            <a:off x="2690640" y="-5257440"/>
            <a:ext cx="13296240" cy="20370600"/>
          </a:xfrm>
          <a:custGeom>
            <a:avLst/>
            <a:gdLst>
              <a:gd name="textAreaLeft" fmla="*/ 0 w 13296240"/>
              <a:gd name="textAreaRight" fmla="*/ 13296600 w 13296240"/>
              <a:gd name="textAreaTop" fmla="*/ 0 h 20370600"/>
              <a:gd name="textAreaBottom" fmla="*/ 20370960 h 20370600"/>
            </a:gdLst>
            <a:ahLst/>
            <a:cxnLst/>
            <a:rect l="textAreaLeft" t="textAreaTop" r="textAreaRight" b="textAreaBottom"/>
            <a:pathLst>
              <a:path w="13296576" h="20370799">
                <a:moveTo>
                  <a:pt x="0" y="0"/>
                </a:moveTo>
                <a:lnTo>
                  <a:pt x="13296576" y="0"/>
                </a:lnTo>
                <a:lnTo>
                  <a:pt x="13296576" y="20370799"/>
                </a:lnTo>
                <a:lnTo>
                  <a:pt x="0" y="203707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48;p16"/>
          <p:cNvSpPr/>
          <p:nvPr/>
        </p:nvSpPr>
        <p:spPr>
          <a:xfrm>
            <a:off x="908280" y="1617480"/>
            <a:ext cx="16230240" cy="362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4010" b="0" u="none" strike="noStrike">
                <a:solidFill>
                  <a:srgbClr val="000000"/>
                </a:solidFill>
                <a:effectLst/>
                <a:uFillTx/>
                <a:latin typeface="Raleway"/>
                <a:ea typeface="Raleway"/>
              </a:rPr>
              <a:t>Спасибо за внимание!</a:t>
            </a:r>
            <a:endParaRPr lang="ru-RU" sz="14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49;p16"/>
          <p:cNvSpPr/>
          <p:nvPr/>
        </p:nvSpPr>
        <p:spPr>
          <a:xfrm>
            <a:off x="347040" y="8850600"/>
            <a:ext cx="10617480" cy="5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Raleway"/>
                <a:ea typeface="Raleway"/>
              </a:rPr>
              <a:t>Вопросы можете не задавать:)</a:t>
            </a:r>
            <a:endParaRPr lang="ru-RU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Microsoft Office PowerPoint</Application>
  <PresentationFormat>Произвольный</PresentationFormat>
  <Slides>5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57</cp:revision>
  <dcterms:modified xsi:type="dcterms:W3CDTF">2026-09-21T13:52:12Z</dcterms:modified>
  <dc:language>ru-RU</dc:language>
</cp:coreProperties>
</file>