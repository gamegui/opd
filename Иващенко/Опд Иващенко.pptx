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.xml" ContentType="application/vnd.openxmlformats-officedocument.presentationml.slide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5143500"/>
  <p:notesSz cx="9144000" cy="51435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16" d="112"/>
          <a:sy n="105" d="108"/>
        </p:scale>
        <p:origin x="114" y="101"/>
      </p:cViewPr>
      <p:guideLst>
        <p:guide pos="2880"/>
        <p:guide pos="162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" name="Google Shape;9;p2" title="shadow-background-natural-palm-leaves.jpg"/>
          <p:cNvPicPr/>
          <p:nvPr/>
        </p:nvPicPr>
        <p:blipFill>
          <a:blip r:embed="rId2">
            <a:alphaModFix/>
          </a:blip>
          <a:srcRect l="0" t="0" r="0" b="15596"/>
          <a:stretch/>
        </p:blipFill>
        <p:spPr bwMode="auto"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 bwMode="auto">
          <a:xfrm>
            <a:off x="243300" y="259500"/>
            <a:ext cx="8657400" cy="462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DM Sans"/>
              <a:ea typeface="DM Sans"/>
              <a:cs typeface="DM Sans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 bwMode="auto">
          <a:xfrm>
            <a:off x="470625" y="828100"/>
            <a:ext cx="8116200" cy="13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2"/>
          <p:cNvSpPr txBox="1"/>
          <p:nvPr>
            <p:ph type="subTitle" idx="1"/>
          </p:nvPr>
        </p:nvSpPr>
        <p:spPr bwMode="auto">
          <a:xfrm>
            <a:off x="557100" y="3834200"/>
            <a:ext cx="8029800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abstract-grainy-texture-background (2).jpg"/>
          <p:cNvPicPr/>
          <p:nvPr/>
        </p:nvPicPr>
        <p:blipFill>
          <a:blip r:embed="rId2">
            <a:alphaModFix/>
          </a:blip>
          <a:srcRect l="0" t="0" r="0" b="1536"/>
          <a:stretch/>
        </p:blipFill>
        <p:spPr bwMode="auto"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 bwMode="auto">
          <a:xfrm>
            <a:off x="243300" y="259500"/>
            <a:ext cx="8657400" cy="462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DM Sans"/>
              <a:ea typeface="DM Sans"/>
              <a:cs typeface="DM Sans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 bwMode="auto">
          <a:xfrm>
            <a:off x="4176150" y="1670492"/>
            <a:ext cx="4342200" cy="178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3"/>
          <p:cNvSpPr txBox="1"/>
          <p:nvPr>
            <p:ph type="subTitle" idx="1"/>
          </p:nvPr>
        </p:nvSpPr>
        <p:spPr bwMode="auto">
          <a:xfrm>
            <a:off x="542675" y="2965199"/>
            <a:ext cx="3014699" cy="15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3"/>
          <p:cNvSpPr txBox="1"/>
          <p:nvPr>
            <p:ph type="title" idx="2" hasCustomPrompt="1"/>
          </p:nvPr>
        </p:nvSpPr>
        <p:spPr bwMode="auto">
          <a:xfrm>
            <a:off x="464024" y="424696"/>
            <a:ext cx="859800" cy="6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 bwMode="auto"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" name="Google Shape;21;p4"/>
          <p:cNvSpPr txBox="1"/>
          <p:nvPr>
            <p:ph type="body" idx="1"/>
          </p:nvPr>
        </p:nvSpPr>
        <p:spPr bwMode="auto">
          <a:xfrm>
            <a:off x="720000" y="1160700"/>
            <a:ext cx="7704000" cy="4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22" name="Google Shape;22;p4" title="shadow-background-natural-palm-leaves.jpg"/>
          <p:cNvPicPr/>
          <p:nvPr/>
        </p:nvPicPr>
        <p:blipFill>
          <a:blip r:embed="rId2">
            <a:alphaModFix/>
          </a:blip>
          <a:srcRect l="49537" t="0" r="49537" b="0"/>
          <a:stretch/>
        </p:blipFill>
        <p:spPr bwMode="auto">
          <a:xfrm rot="5400000">
            <a:off x="4536451" y="591802"/>
            <a:ext cx="121375" cy="87371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" name="Google Shape;23;p4"/>
          <p:cNvCxnSpPr>
            <a:cxnSpLocks/>
          </p:cNvCxnSpPr>
          <p:nvPr/>
        </p:nvCxnSpPr>
        <p:spPr bwMode="auto">
          <a:xfrm>
            <a:off x="218850" y="235949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subTitle" idx="1"/>
          </p:nvPr>
        </p:nvSpPr>
        <p:spPr bwMode="auto">
          <a:xfrm>
            <a:off x="5712000" y="4494125"/>
            <a:ext cx="2564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000">
                <a:solidFill>
                  <a:schemeClr val="dk1"/>
                </a:solidFill>
                <a:latin typeface="Funnel Display"/>
                <a:ea typeface="Funnel Display"/>
                <a:cs typeface="Funnel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5"/>
          <p:cNvSpPr txBox="1"/>
          <p:nvPr>
            <p:ph type="subTitle" idx="2"/>
          </p:nvPr>
        </p:nvSpPr>
        <p:spPr bwMode="auto">
          <a:xfrm>
            <a:off x="867750" y="4494125"/>
            <a:ext cx="2564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000">
                <a:solidFill>
                  <a:schemeClr val="dk1"/>
                </a:solidFill>
                <a:latin typeface="Funnel Display"/>
                <a:ea typeface="Funnel Display"/>
                <a:cs typeface="Funnel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Funnel Display"/>
              <a:buNone/>
              <a:defRPr sz="2400">
                <a:latin typeface="Funnel Display"/>
                <a:ea typeface="Funnel Display"/>
                <a:cs typeface="Funnel Display"/>
              </a:defRPr>
            </a:lvl9pPr>
          </a:lstStyle>
          <a:p>
            <a:pPr>
              <a:defRPr/>
            </a:pPr>
            <a:endParaRPr/>
          </a:p>
        </p:txBody>
      </p:sp>
      <p:cxnSp>
        <p:nvCxnSpPr>
          <p:cNvPr id="27" name="Google Shape;27;p5"/>
          <p:cNvCxnSpPr>
            <a:cxnSpLocks/>
          </p:cNvCxnSpPr>
          <p:nvPr/>
        </p:nvCxnSpPr>
        <p:spPr bwMode="auto">
          <a:xfrm>
            <a:off x="218850" y="235949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 bwMode="auto"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30" name="Google Shape;30;p6"/>
          <p:cNvCxnSpPr>
            <a:cxnSpLocks/>
          </p:cNvCxnSpPr>
          <p:nvPr/>
        </p:nvCxnSpPr>
        <p:spPr bwMode="auto">
          <a:xfrm>
            <a:off x="218850" y="235949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 bwMode="auto">
          <a:xfrm>
            <a:off x="3483675" y="529125"/>
            <a:ext cx="4644300" cy="11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33" name="Google Shape;33;p7"/>
          <p:cNvSpPr/>
          <p:nvPr>
            <p:ph type="pic" idx="2"/>
          </p:nvPr>
        </p:nvSpPr>
        <p:spPr bwMode="auto">
          <a:xfrm>
            <a:off x="228550" y="238199"/>
            <a:ext cx="3009000" cy="46767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7"/>
          <p:cNvSpPr txBox="1"/>
          <p:nvPr>
            <p:ph type="subTitle" idx="1"/>
          </p:nvPr>
        </p:nvSpPr>
        <p:spPr bwMode="auto">
          <a:xfrm>
            <a:off x="3483675" y="1953400"/>
            <a:ext cx="4172400" cy="24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 bwMode="auto">
          <a:xfrm>
            <a:off x="557100" y="1771800"/>
            <a:ext cx="5657400" cy="16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cxnSp>
        <p:nvCxnSpPr>
          <p:cNvPr id="37" name="Google Shape;37;p8"/>
          <p:cNvCxnSpPr>
            <a:cxnSpLocks/>
          </p:cNvCxnSpPr>
          <p:nvPr/>
        </p:nvCxnSpPr>
        <p:spPr bwMode="auto">
          <a:xfrm>
            <a:off x="218850" y="252463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38;p8"/>
          <p:cNvCxnSpPr>
            <a:cxnSpLocks/>
          </p:cNvCxnSpPr>
          <p:nvPr/>
        </p:nvCxnSpPr>
        <p:spPr bwMode="auto">
          <a:xfrm>
            <a:off x="218850" y="4891038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 bwMode="auto">
          <a:xfrm>
            <a:off x="3716350" y="656650"/>
            <a:ext cx="4872899" cy="11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1" name="Google Shape;41;p9"/>
          <p:cNvSpPr txBox="1"/>
          <p:nvPr>
            <p:ph type="subTitle" idx="1"/>
          </p:nvPr>
        </p:nvSpPr>
        <p:spPr bwMode="auto">
          <a:xfrm>
            <a:off x="486700" y="3628850"/>
            <a:ext cx="3776100" cy="8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9"/>
          <p:cNvSpPr/>
          <p:nvPr>
            <p:ph type="pic" idx="2"/>
          </p:nvPr>
        </p:nvSpPr>
        <p:spPr bwMode="auto">
          <a:xfrm>
            <a:off x="5657675" y="2524725"/>
            <a:ext cx="2454600" cy="1621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/>
          <p:nvPr>
            <p:ph type="pic" idx="2"/>
          </p:nvPr>
        </p:nvSpPr>
        <p:spPr bwMode="auto">
          <a:xfrm>
            <a:off x="-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 txBox="1"/>
          <p:nvPr>
            <p:ph type="title"/>
          </p:nvPr>
        </p:nvSpPr>
        <p:spPr bwMode="auto">
          <a:xfrm>
            <a:off x="4903975" y="529125"/>
            <a:ext cx="3565200" cy="412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 hasCustomPrompt="1"/>
          </p:nvPr>
        </p:nvSpPr>
        <p:spPr bwMode="auto">
          <a:xfrm>
            <a:off x="1284000" y="1349538"/>
            <a:ext cx="6576000" cy="13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48" name="Google Shape;48;p11"/>
          <p:cNvSpPr txBox="1"/>
          <p:nvPr>
            <p:ph type="subTitle" idx="1"/>
          </p:nvPr>
        </p:nvSpPr>
        <p:spPr bwMode="auto">
          <a:xfrm>
            <a:off x="1284000" y="2807524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cxnSp>
        <p:nvCxnSpPr>
          <p:cNvPr id="49" name="Google Shape;49;p11"/>
          <p:cNvCxnSpPr>
            <a:cxnSpLocks/>
          </p:cNvCxnSpPr>
          <p:nvPr/>
        </p:nvCxnSpPr>
        <p:spPr bwMode="auto">
          <a:xfrm>
            <a:off x="218850" y="272663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" name="Google Shape;50;p11"/>
          <p:cNvCxnSpPr>
            <a:cxnSpLocks/>
          </p:cNvCxnSpPr>
          <p:nvPr/>
        </p:nvCxnSpPr>
        <p:spPr bwMode="auto">
          <a:xfrm>
            <a:off x="218850" y="4870838"/>
            <a:ext cx="870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ext" preserve="0" showMasterPhAnim="0" userDrawn="1">
  <p:cSld name="CUSTOM_4_2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" name="Google Shape;53;p13" title="silhouette-person-city (2).jpg"/>
          <p:cNvPicPr/>
          <p:nvPr/>
        </p:nvPicPr>
        <p:blipFill>
          <a:blip r:embed="rId2">
            <a:alphaModFix/>
          </a:blip>
          <a:srcRect l="0" t="0" r="0" b="15418"/>
          <a:stretch/>
        </p:blipFill>
        <p:spPr bwMode="auto">
          <a:xfrm>
            <a:off x="-2" y="0"/>
            <a:ext cx="9144003" cy="51435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54" name="Google Shape;54;p13"/>
          <p:cNvSpPr/>
          <p:nvPr/>
        </p:nvSpPr>
        <p:spPr bwMode="auto">
          <a:xfrm>
            <a:off x="243300" y="259500"/>
            <a:ext cx="8657400" cy="462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DM Sans"/>
              <a:ea typeface="DM Sans"/>
              <a:cs typeface="DM Sans"/>
            </a:endParaRPr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 bwMode="auto">
          <a:xfrm>
            <a:off x="571475" y="521225"/>
            <a:ext cx="8001000" cy="5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13"/>
          <p:cNvSpPr txBox="1"/>
          <p:nvPr>
            <p:ph type="subTitle" idx="1"/>
          </p:nvPr>
        </p:nvSpPr>
        <p:spPr bwMode="auto">
          <a:xfrm>
            <a:off x="2840200" y="1274600"/>
            <a:ext cx="5583899" cy="34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ext 1" preserve="0" showMasterPhAnim="0" userDrawn="1">
  <p:cSld name="CUSTOM_4_2_1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 bwMode="auto">
          <a:xfrm>
            <a:off x="3483675" y="238188"/>
            <a:ext cx="4644300" cy="11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59" name="Google Shape;59;p14"/>
          <p:cNvSpPr/>
          <p:nvPr>
            <p:ph type="pic" idx="2"/>
          </p:nvPr>
        </p:nvSpPr>
        <p:spPr bwMode="auto">
          <a:xfrm>
            <a:off x="228550" y="233400"/>
            <a:ext cx="3009000" cy="46767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4"/>
          <p:cNvSpPr txBox="1"/>
          <p:nvPr>
            <p:ph type="subTitle" idx="1"/>
          </p:nvPr>
        </p:nvSpPr>
        <p:spPr bwMode="auto">
          <a:xfrm>
            <a:off x="3483675" y="1715200"/>
            <a:ext cx="4644300" cy="2852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 1" preserve="0" showMasterPhAnim="0" userDrawn="1">
  <p:cSld name="SECTION_HEADER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 bwMode="auto">
          <a:xfrm>
            <a:off x="508600" y="3163350"/>
            <a:ext cx="4383600" cy="15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63" name="Google Shape;63;p15"/>
          <p:cNvSpPr txBox="1"/>
          <p:nvPr>
            <p:ph type="title" idx="2" hasCustomPrompt="1"/>
          </p:nvPr>
        </p:nvSpPr>
        <p:spPr bwMode="auto">
          <a:xfrm>
            <a:off x="437825" y="460350"/>
            <a:ext cx="1332600" cy="6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64" name="Google Shape;64;p15"/>
          <p:cNvSpPr/>
          <p:nvPr>
            <p:ph type="pic" idx="3"/>
          </p:nvPr>
        </p:nvSpPr>
        <p:spPr bwMode="auto">
          <a:xfrm>
            <a:off x="6214025" y="151774"/>
            <a:ext cx="2760600" cy="4839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 1" preserve="0" showMasterPhAnim="0" userDrawn="1">
  <p:cSld name="CUSTOM_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 bwMode="auto">
          <a:xfrm>
            <a:off x="5228925" y="2268750"/>
            <a:ext cx="3335100" cy="6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6"/>
          <p:cNvSpPr/>
          <p:nvPr>
            <p:ph type="pic" idx="2"/>
          </p:nvPr>
        </p:nvSpPr>
        <p:spPr bwMode="auto">
          <a:xfrm>
            <a:off x="1734212" y="100"/>
            <a:ext cx="3204000" cy="2612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/>
          <p:nvPr>
            <p:ph type="pic" idx="3"/>
          </p:nvPr>
        </p:nvSpPr>
        <p:spPr bwMode="auto">
          <a:xfrm>
            <a:off x="0" y="100"/>
            <a:ext cx="1683900" cy="26124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6"/>
          <p:cNvSpPr/>
          <p:nvPr>
            <p:ph type="pic" idx="4"/>
          </p:nvPr>
        </p:nvSpPr>
        <p:spPr bwMode="auto">
          <a:xfrm>
            <a:off x="0" y="2664100"/>
            <a:ext cx="3288000" cy="2479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6"/>
          <p:cNvSpPr/>
          <p:nvPr>
            <p:ph type="pic" idx="5"/>
          </p:nvPr>
        </p:nvSpPr>
        <p:spPr bwMode="auto">
          <a:xfrm>
            <a:off x="3336274" y="2664050"/>
            <a:ext cx="1607100" cy="2479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71" name="Google Shape;71;p16"/>
          <p:cNvCxnSpPr>
            <a:cxnSpLocks/>
          </p:cNvCxnSpPr>
          <p:nvPr/>
        </p:nvCxnSpPr>
        <p:spPr bwMode="auto">
          <a:xfrm>
            <a:off x="8915400" y="357900"/>
            <a:ext cx="0" cy="442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 1" preserve="0" showMasterPhAnim="0" userDrawn="1">
  <p:cSld name="CUSTOM_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>
            <p:ph type="pic" idx="2"/>
          </p:nvPr>
        </p:nvSpPr>
        <p:spPr bwMode="auto">
          <a:xfrm>
            <a:off x="-6750" y="-347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7"/>
          <p:cNvSpPr txBox="1"/>
          <p:nvPr>
            <p:ph type="title"/>
          </p:nvPr>
        </p:nvSpPr>
        <p:spPr bwMode="auto">
          <a:xfrm>
            <a:off x="-7865" y="4055825"/>
            <a:ext cx="3565200" cy="412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 1" preserve="0" showMasterPhAnim="0" userDrawn="1">
  <p:cSld name="CUSTOM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" name="Google Shape;76;p18" title="monochromatic-urban-minimal-landscape (4).jpg"/>
          <p:cNvPicPr/>
          <p:nvPr/>
        </p:nvPicPr>
        <p:blipFill>
          <a:blip r:embed="rId2">
            <a:alphaModFix/>
          </a:blip>
          <a:srcRect l="0" t="7798" r="0" b="7807"/>
          <a:stretch/>
        </p:blipFill>
        <p:spPr bwMode="auto"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8"/>
          <p:cNvSpPr/>
          <p:nvPr/>
        </p:nvSpPr>
        <p:spPr bwMode="auto">
          <a:xfrm>
            <a:off x="243300" y="259500"/>
            <a:ext cx="8657400" cy="462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endParaRPr>
              <a:latin typeface="DM Sans"/>
              <a:ea typeface="DM Sans"/>
              <a:cs typeface="DM Sans"/>
            </a:endParaRPr>
          </a:p>
        </p:txBody>
      </p:sp>
      <p:sp>
        <p:nvSpPr>
          <p:cNvPr id="78" name="Google Shape;78;p18"/>
          <p:cNvSpPr txBox="1"/>
          <p:nvPr>
            <p:ph type="title"/>
          </p:nvPr>
        </p:nvSpPr>
        <p:spPr bwMode="auto">
          <a:xfrm>
            <a:off x="544050" y="457800"/>
            <a:ext cx="8055900" cy="4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hanks" preserve="0" showMasterPhAnim="0" userDrawn="1">
  <p:cSld name="CUSTOM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 bwMode="auto">
          <a:xfrm>
            <a:off x="444700" y="238199"/>
            <a:ext cx="54999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9"/>
          <p:cNvSpPr txBox="1"/>
          <p:nvPr>
            <p:ph type="subTitle" idx="1"/>
          </p:nvPr>
        </p:nvSpPr>
        <p:spPr bwMode="auto">
          <a:xfrm>
            <a:off x="566419" y="1296900"/>
            <a:ext cx="53784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9"/>
          <p:cNvSpPr txBox="1"/>
          <p:nvPr/>
        </p:nvSpPr>
        <p:spPr bwMode="auto">
          <a:xfrm>
            <a:off x="5458100" y="3507650"/>
            <a:ext cx="3112500" cy="8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300"/>
              </a:spcBef>
              <a:spcAft>
                <a:spcPts val="0"/>
              </a:spcAft>
              <a:buNone/>
              <a:defRPr/>
            </a:pPr>
            <a:r>
              <a:rPr lang="en" sz="1200" b="1">
                <a:solidFill>
                  <a:schemeClr val="dk1"/>
                </a:solidFill>
                <a:latin typeface="DM Sans"/>
                <a:ea typeface="DM Sans"/>
                <a:cs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DM Sans"/>
                <a:ea typeface="DM Sans"/>
                <a:cs typeface="DM Sans"/>
                <a:hlinkClick r:id="rId2" tooltip="https://bit.ly/3A1uf1Q"/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</a:rPr>
              <a:t>, and includes icons, and infographics &amp; images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hlinkClick r:id="rId3" tooltip="http://bit.ly/2TtBDfr"/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</a:rPr>
              <a:t> </a:t>
            </a:r>
            <a:endParaRPr sz="1200" b="1" u="sng">
              <a:solidFill>
                <a:schemeClr val="dk1"/>
              </a:solidFill>
              <a:latin typeface="DM Sans"/>
              <a:ea typeface="DM Sans"/>
              <a:cs typeface="DM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 bwMode="auto"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unnel Display"/>
              <a:buNone/>
              <a:defRPr sz="2500">
                <a:solidFill>
                  <a:schemeClr val="dk1"/>
                </a:solidFill>
                <a:latin typeface="Funnel Display"/>
                <a:ea typeface="Funnel Display"/>
                <a:cs typeface="Funnel Display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1"/>
          <p:cNvSpPr txBox="1"/>
          <p:nvPr>
            <p:ph type="body" idx="1"/>
          </p:nvPr>
        </p:nvSpPr>
        <p:spPr bwMode="auto"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dt="0" ftr="0" hdr="0" sldNum="1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jpg"/><Relationship Id="rId3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8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type="ctrTitle"/>
          </p:nvPr>
        </p:nvSpPr>
        <p:spPr bwMode="auto">
          <a:xfrm>
            <a:off x="470624" y="990024"/>
            <a:ext cx="8116200" cy="13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defRPr/>
            </a:pPr>
            <a:r>
              <a:rPr sz="36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Недостаток данных о загруженности транспорта</a:t>
            </a:r>
            <a:endParaRPr sz="3600">
              <a:solidFill>
                <a:schemeClr val="tx1"/>
              </a:solidFill>
            </a:endParaRPr>
          </a:p>
        </p:txBody>
      </p:sp>
      <p:sp>
        <p:nvSpPr>
          <p:cNvPr id="99" name="Google Shape;99;p24"/>
          <p:cNvSpPr txBox="1"/>
          <p:nvPr>
            <p:ph type="subTitle" idx="1"/>
          </p:nvPr>
        </p:nvSpPr>
        <p:spPr bwMode="auto">
          <a:xfrm>
            <a:off x="557100" y="3834200"/>
            <a:ext cx="8029800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Иващенко Дарья</a:t>
            </a:r>
            <a:endParaRPr/>
          </a:p>
        </p:txBody>
      </p:sp>
      <p:cxnSp>
        <p:nvCxnSpPr>
          <p:cNvPr id="100" name="Google Shape;100;p24"/>
          <p:cNvCxnSpPr>
            <a:cxnSpLocks/>
          </p:cNvCxnSpPr>
          <p:nvPr/>
        </p:nvCxnSpPr>
        <p:spPr bwMode="auto">
          <a:xfrm>
            <a:off x="557100" y="678600"/>
            <a:ext cx="8029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" name="Google Shape;106;p25"/>
          <p:cNvSpPr txBox="1"/>
          <p:nvPr>
            <p:ph type="title"/>
          </p:nvPr>
        </p:nvSpPr>
        <p:spPr bwMode="auto"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8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Целевая аудитория</a:t>
            </a:r>
            <a:endParaRPr sz="2400">
              <a:solidFill>
                <a:schemeClr val="tx1"/>
              </a:solidFill>
            </a:endParaRPr>
          </a:p>
        </p:txBody>
      </p:sp>
      <p:sp>
        <p:nvSpPr>
          <p:cNvPr id="107" name="Google Shape;107;p25"/>
          <p:cNvSpPr txBox="1"/>
          <p:nvPr>
            <p:ph type="body" idx="1"/>
          </p:nvPr>
        </p:nvSpPr>
        <p:spPr bwMode="auto">
          <a:xfrm>
            <a:off x="243749" y="1209674"/>
            <a:ext cx="7704000" cy="4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Регулярные пассажиры</a:t>
            </a:r>
            <a:endParaRPr sz="2000">
              <a:solidFill>
                <a:schemeClr val="tx1"/>
              </a:solidFill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pPr>
            <a:endParaRPr sz="2000">
              <a:solidFill>
                <a:schemeClr val="tx1"/>
              </a:solidFill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Туристы и редкие пассажиры</a:t>
            </a:r>
            <a:endParaRPr sz="2000">
              <a:solidFill>
                <a:schemeClr val="tx1"/>
              </a:solidFill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pPr>
            <a:endParaRPr sz="2000">
              <a:solidFill>
                <a:schemeClr val="tx1"/>
              </a:solidFill>
            </a:endParaRPr>
          </a:p>
          <a:p>
            <a: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pPr>
            <a:r>
              <a:rPr sz="20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Операторы транспорта</a:t>
            </a:r>
            <a:endParaRPr sz="1600">
              <a:solidFill>
                <a:schemeClr val="tx1"/>
              </a:solidFill>
            </a:endParaRPr>
          </a:p>
        </p:txBody>
      </p:sp>
      <p:pic>
        <p:nvPicPr>
          <p:cNvPr id="38525281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6020775" y="561786"/>
            <a:ext cx="2628900" cy="1707977"/>
          </a:xfrm>
          <a:prstGeom prst="rect">
            <a:avLst/>
          </a:prstGeom>
        </p:spPr>
      </p:pic>
      <p:pic>
        <p:nvPicPr>
          <p:cNvPr id="410583793" name="Google Shape;143;p29" title="close-up-metallic-grey-background.jpg"/>
          <p:cNvPicPr/>
          <p:nvPr/>
        </p:nvPicPr>
        <p:blipFill>
          <a:blip r:embed="rId3">
            <a:alphaModFix/>
          </a:blip>
          <a:stretch/>
        </p:blipFill>
        <p:spPr bwMode="auto">
          <a:xfrm flipH="0" flipV="0">
            <a:off x="243749" y="3114459"/>
            <a:ext cx="1976549" cy="168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/>
          <p:nvPr>
            <p:ph type="subTitle" idx="1"/>
          </p:nvPr>
        </p:nvSpPr>
        <p:spPr bwMode="auto">
          <a:xfrm>
            <a:off x="334299" y="1857199"/>
            <a:ext cx="3776100" cy="8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1. Тепловая карта загруженности в реальном времени</a:t>
            </a:r>
            <a:br>
              <a:rPr sz="1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</a:br>
            <a:r>
              <a:rPr sz="1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На основе датчиков Wi-Fi/Bluetooth/UWB в транспорте + AI-модель рассчитывает загруженность каждого вагона и каждого автобуса, и отправляет данные пассажиру в приложение.</a:t>
            </a:r>
            <a:endParaRPr sz="1400">
              <a:solidFill>
                <a:schemeClr val="tx1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>
              <a:solidFill>
                <a:schemeClr val="tx1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2.Оплата без действий</a:t>
            </a:r>
            <a:br>
              <a:rPr sz="1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</a:br>
            <a:r>
              <a:rPr sz="1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Система автоматически фиксирует поездку. </a:t>
            </a:r>
            <a:endParaRPr sz="1400" b="0" i="0" u="none">
              <a:solidFill>
                <a:schemeClr val="tx1"/>
              </a:solidFill>
              <a:latin typeface="Liberation Sans"/>
              <a:ea typeface="Liberation Sans"/>
              <a:cs typeface="Liberation Sans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400">
              <a:solidFill>
                <a:schemeClr val="tx1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 sz="1400" b="1">
                <a:solidFill>
                  <a:schemeClr val="tx1"/>
                </a:solidFill>
              </a:rPr>
              <a:t>3</a:t>
            </a:r>
            <a:r>
              <a:rPr lang="en" sz="1400">
                <a:solidFill>
                  <a:schemeClr val="tx1"/>
                </a:solidFill>
              </a:rPr>
              <a:t>.</a:t>
            </a:r>
            <a:r>
              <a:rPr sz="1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Прогноз прибытия без интернета</a:t>
            </a:r>
            <a:br>
              <a:rPr sz="1200" b="1" i="0" u="none">
                <a:solidFill>
                  <a:srgbClr val="0F1115"/>
                </a:solidFill>
                <a:latin typeface="Liberation Sans"/>
                <a:ea typeface="Liberation Sans"/>
                <a:cs typeface="Liberation Sans"/>
              </a:rPr>
            </a:br>
            <a:endParaRPr lang="en" sz="1400">
              <a:solidFill>
                <a:schemeClr val="tx1"/>
              </a:solidFill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" sz="1400">
              <a:solidFill>
                <a:schemeClr val="tx1"/>
              </a:solidFill>
            </a:endParaRPr>
          </a:p>
        </p:txBody>
      </p:sp>
      <p:sp>
        <p:nvSpPr>
          <p:cNvPr id="116" name="Google Shape;116;p26"/>
          <p:cNvSpPr txBox="1"/>
          <p:nvPr>
            <p:ph type="title"/>
          </p:nvPr>
        </p:nvSpPr>
        <p:spPr bwMode="auto">
          <a:xfrm>
            <a:off x="3713999" y="656649"/>
            <a:ext cx="4872899" cy="110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Анализ пассажиропотока в реальном времени + безбарьерная оплата</a:t>
            </a:r>
            <a:endParaRPr sz="2400">
              <a:solidFill>
                <a:schemeClr val="tx1"/>
              </a:solidFill>
            </a:endParaRPr>
          </a:p>
        </p:txBody>
      </p:sp>
      <p:pic>
        <p:nvPicPr>
          <p:cNvPr id="117" name="Google Shape;117;p26" title="monochromatic-urban-minimal-landscape.jpg"/>
          <p:cNvPicPr/>
          <p:nvPr/>
        </p:nvPicPr>
        <p:blipFill>
          <a:blip r:embed="rId2">
            <a:alphaModFix/>
          </a:blip>
          <a:srcRect l="27896" t="40906" r="10015" b="18129"/>
          <a:stretch/>
        </p:blipFill>
        <p:spPr bwMode="auto">
          <a:xfrm>
            <a:off x="486700" y="728625"/>
            <a:ext cx="2181975" cy="95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6" title="abstract-grainy-texture-background (2).jpg"/>
          <p:cNvPicPr/>
          <p:nvPr/>
        </p:nvPicPr>
        <p:blipFill>
          <a:blip r:embed="rId3">
            <a:alphaModFix/>
          </a:blip>
          <a:srcRect l="31940" t="0" r="0" b="0"/>
          <a:stretch/>
        </p:blipFill>
        <p:spPr bwMode="auto">
          <a:xfrm>
            <a:off x="7023325" y="3325938"/>
            <a:ext cx="1931402" cy="1621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26"/>
          <p:cNvCxnSpPr>
            <a:cxnSpLocks/>
          </p:cNvCxnSpPr>
          <p:nvPr/>
        </p:nvCxnSpPr>
        <p:spPr bwMode="auto">
          <a:xfrm>
            <a:off x="557100" y="529175"/>
            <a:ext cx="8029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type="title"/>
          </p:nvPr>
        </p:nvSpPr>
        <p:spPr bwMode="auto">
          <a:xfrm>
            <a:off x="4572000" y="285813"/>
            <a:ext cx="4644300" cy="11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26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Конкуренция</a:t>
            </a:r>
            <a:endParaRPr/>
          </a:p>
        </p:txBody>
      </p:sp>
      <p:sp>
        <p:nvSpPr>
          <p:cNvPr id="127" name="Google Shape;127;p27"/>
          <p:cNvSpPr txBox="1"/>
          <p:nvPr>
            <p:ph type="subTitle" idx="1"/>
          </p:nvPr>
        </p:nvSpPr>
        <p:spPr bwMode="auto">
          <a:xfrm>
            <a:off x="4188524" y="1638999"/>
            <a:ext cx="4644300" cy="2852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399" indent="0">
              <a:buClr>
                <a:schemeClr val="dk1"/>
              </a:buClr>
              <a:buSzPts val="1200"/>
              <a:buFont typeface="DM Sans"/>
              <a:buNone/>
              <a:defRPr/>
            </a:pPr>
            <a:r>
              <a:rPr sz="1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Google Maps</a:t>
            </a:r>
            <a:r>
              <a:rPr sz="1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: широкое покрытие, но слабые реальные данные, под землёй практически не работает</a:t>
            </a:r>
            <a:endParaRPr sz="1400">
              <a:solidFill>
                <a:schemeClr val="tx1"/>
              </a:solidFill>
            </a:endParaRPr>
          </a:p>
          <a:p>
            <a:pPr marL="152399" indent="0">
              <a:buClr>
                <a:schemeClr val="dk1"/>
              </a:buClr>
              <a:buSzPts val="1200"/>
              <a:buFont typeface="DM Sans"/>
              <a:buNone/>
              <a:defRPr/>
            </a:pPr>
            <a:endParaRPr/>
          </a:p>
          <a:p>
            <a:pPr marL="152399" indent="0">
              <a:buClr>
                <a:schemeClr val="dk1"/>
              </a:buClr>
              <a:buSzPts val="1200"/>
              <a:buFont typeface="DM Sans"/>
              <a:buNone/>
              <a:defRPr/>
            </a:pPr>
            <a:r>
              <a:rPr sz="1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2ГИС</a:t>
            </a:r>
            <a:r>
              <a:rPr sz="1400">
                <a:solidFill>
                  <a:schemeClr val="tx1"/>
                </a:solidFill>
              </a:rPr>
              <a:t>: </a:t>
            </a:r>
            <a:r>
              <a:rPr sz="1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показывает транспорт примерно в 40 городах и </a:t>
            </a:r>
            <a:r>
              <a:rPr sz="1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только онлайн</a:t>
            </a:r>
            <a:r>
              <a:rPr sz="1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. В метро, подземных переходах, в зонах слабого сигнала функция не работает.</a:t>
            </a:r>
            <a:endParaRPr sz="1400">
              <a:solidFill>
                <a:schemeClr val="tx1"/>
              </a:solidFill>
            </a:endParaRPr>
          </a:p>
          <a:p>
            <a:pPr marL="152399" indent="0">
              <a:buClr>
                <a:schemeClr val="dk1"/>
              </a:buClr>
              <a:buSzPts val="1200"/>
              <a:buFont typeface="DM Sans"/>
              <a:buNone/>
              <a:defRPr/>
            </a:pPr>
            <a:endParaRPr/>
          </a:p>
        </p:txBody>
      </p:sp>
      <p:cxnSp>
        <p:nvCxnSpPr>
          <p:cNvPr id="128" name="Google Shape;128;p27"/>
          <p:cNvCxnSpPr>
            <a:cxnSpLocks/>
          </p:cNvCxnSpPr>
          <p:nvPr/>
        </p:nvCxnSpPr>
        <p:spPr bwMode="auto">
          <a:xfrm>
            <a:off x="3483675" y="4914900"/>
            <a:ext cx="2440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7010987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2485" y="681699"/>
            <a:ext cx="3971739" cy="3495674"/>
          </a:xfrm>
          <a:prstGeom prst="rect">
            <a:avLst/>
          </a:prstGeom>
          <a:ln w="190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 bwMode="auto">
          <a:xfrm flipH="0" flipV="0">
            <a:off x="3268049" y="-447674"/>
            <a:ext cx="5336024" cy="2138041"/>
          </a:xfrm>
          <a:prstGeom prst="rect">
            <a:avLst/>
          </a:prstGeom>
        </p:spPr>
        <p:txBody>
          <a:bodyPr spcFirstLastPara="1" wrap="square" lIns="91423" tIns="91423" rIns="91423" bIns="91423" anchor="b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"/>
              <a:t>Финансирование</a:t>
            </a:r>
            <a:endParaRPr/>
          </a:p>
        </p:txBody>
      </p:sp>
      <p:sp>
        <p:nvSpPr>
          <p:cNvPr id="135" name="Google Shape;135;p28"/>
          <p:cNvSpPr txBox="1"/>
          <p:nvPr>
            <p:ph type="subTitle" idx="1"/>
          </p:nvPr>
        </p:nvSpPr>
        <p:spPr bwMode="auto">
          <a:xfrm flipH="0" flipV="0">
            <a:off x="474799" y="1690366"/>
            <a:ext cx="7470024" cy="2121149"/>
          </a:xfrm>
          <a:prstGeom prst="rect">
            <a:avLst/>
          </a:prstGeom>
        </p:spPr>
        <p:txBody>
          <a:bodyPr spcFirstLastPara="1" wrap="square" lIns="91423" tIns="91423" rIns="91423" bIns="91423" anchor="b" anchorCtr="0">
            <a:noAutofit/>
          </a:bodyPr>
          <a:lstStyle/>
          <a:p>
            <a:pPr>
              <a:defRPr/>
            </a:pPr>
            <a:r>
              <a:rPr sz="1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1. Государство / муниципалитеты: </a:t>
            </a:r>
            <a:r>
              <a:rPr sz="1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сервис продаётся напрямую оператору транспорта, а оператор платит из бюджета или субсидий. Государственные закупки цифровизации транспорта -  стабильный денежный поток.</a:t>
            </a:r>
            <a:endParaRPr sz="1400">
              <a:solidFill>
                <a:schemeClr val="tx1"/>
              </a:solidFill>
            </a:endParaRPr>
          </a:p>
          <a:p>
            <a:pPr>
              <a:defRPr/>
            </a:pPr>
            <a:r>
              <a:rPr sz="1400" b="1">
                <a:solidFill>
                  <a:schemeClr val="tx1"/>
                </a:solidFill>
              </a:rPr>
              <a:t>2</a:t>
            </a:r>
            <a:r>
              <a:rPr sz="1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.</a:t>
            </a:r>
            <a:r>
              <a:rPr sz="1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 Монетизация данных:</a:t>
            </a:r>
            <a:br>
              <a:rPr sz="1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</a:br>
            <a:r>
              <a:rPr sz="1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Анонимизированные данные о пассажиропотоке можно продавать городским плановым департаментам и аналитикам коммерческой недвижимости.</a:t>
            </a:r>
            <a:endParaRPr sz="1400">
              <a:solidFill>
                <a:schemeClr val="tx1"/>
              </a:solidFill>
            </a:endParaRPr>
          </a:p>
          <a:p>
            <a:pPr>
              <a:defRPr/>
            </a:pPr>
            <a:r>
              <a:rPr sz="1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3. Премиум-подписка</a:t>
            </a:r>
            <a:br>
              <a:rPr sz="1400" b="1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</a:br>
            <a:r>
              <a:rPr sz="1400" b="0" i="0" u="none">
                <a:solidFill>
                  <a:schemeClr val="tx1"/>
                </a:solidFill>
                <a:latin typeface="Liberation Sans"/>
                <a:ea typeface="Liberation Sans"/>
                <a:cs typeface="Liberation Sans"/>
              </a:rPr>
              <a:t>Базовые функции бесплатны, продвинутые («напоминание о свободном месте», «рекомендация оптимального вагона») — по подписке.</a:t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136" name="Google Shape;136;p28"/>
          <p:cNvCxnSpPr>
            <a:cxnSpLocks/>
          </p:cNvCxnSpPr>
          <p:nvPr/>
        </p:nvCxnSpPr>
        <p:spPr bwMode="auto">
          <a:xfrm>
            <a:off x="1217750" y="928581"/>
            <a:ext cx="729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Minimalist for Business by Slidesgo">
  <a:themeElements>
    <a:clrScheme name="Simple Light">
      <a:dk1>
        <a:srgbClr val="191919"/>
      </a:dk1>
      <a:lt1>
        <a:srgbClr val="FFFFF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R7-Office/2026.2.1.3364-2</Application>
  <DocSecurity>0</DocSecurity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>Сапсалёва Дарья</cp:lastModifiedBy>
  <cp:revision>1</cp:revision>
  <dcterms:modified xsi:type="dcterms:W3CDTF">2026-10-07T06:03:04Z</dcterms:modified>
  <cp:category/>
  <cp:contentStatus/>
  <cp:version/>
</cp:coreProperties>
</file>